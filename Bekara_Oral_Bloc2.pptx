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9" r:id="rId4"/>
    <p:sldId id="260" r:id="rId5"/>
    <p:sldId id="285" r:id="rId6"/>
    <p:sldId id="290" r:id="rId7"/>
    <p:sldId id="291" r:id="rId8"/>
    <p:sldId id="289" r:id="rId9"/>
    <p:sldId id="262" r:id="rId10"/>
    <p:sldId id="287" r:id="rId11"/>
    <p:sldId id="288" r:id="rId12"/>
    <p:sldId id="282" r:id="rId13"/>
  </p:sldIdLst>
  <p:sldSz cx="9144000" cy="5143500" type="screen16x9"/>
  <p:notesSz cx="6858000" cy="9144000"/>
  <p:embeddedFontLst>
    <p:embeddedFont>
      <p:font typeface="Economica" panose="020B0604020202020204" charset="0"/>
      <p:regular r:id="rId15"/>
      <p:bold r:id="rId16"/>
      <p:italic r:id="rId17"/>
      <p:boldItalic r:id="rId18"/>
    </p:embeddedFont>
    <p:embeddedFont>
      <p:font typeface="Open Sans" panose="020B0606030504020204" pitchFamily="3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8FC05F9-308C-4487-A63D-05D02363F970}">
  <a:tblStyle styleId="{18FC05F9-308C-4487-A63D-05D02363F97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54" y="34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a3a7af154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fa3a7af154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a3a7af154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fa3a7af154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a3a7af154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fa3a7af154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a3a7af154_1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fa3a7af154_1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a3a7af154_1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fa3a7af154_1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34938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a3a7af154_1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fa3a7af154_1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55835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a3a7af154_1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fa3a7af154_1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66093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a3a7af154_1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fa3a7af154_1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90947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a3a7af154_1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fa3a7af154_1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a3a7af154_1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fa3a7af154_1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29872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a3a7af154_1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fa3a7af154_1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07944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fa3a7af154_1_4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fa3a7af154_1_4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2887945" y="1161264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000" dirty="0" err="1"/>
              <a:t>VéloVille</a:t>
            </a:r>
            <a:r>
              <a:rPr lang="fr-FR" sz="3000" dirty="0"/>
              <a:t> Hauts-de-France — Valorisation et Fiabilisation des Données</a:t>
            </a:r>
            <a:endParaRPr sz="3000" dirty="0"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3145825" y="2651757"/>
            <a:ext cx="3054600" cy="1537200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 dirty="0"/>
              <a:t>M2I</a:t>
            </a:r>
            <a:endParaRPr sz="1800"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 dirty="0"/>
              <a:t>RNCP 39103 [Bloc2]</a:t>
            </a:r>
            <a:endParaRPr sz="1800"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 dirty="0"/>
              <a:t>Kheira Bekara </a:t>
            </a:r>
            <a:endParaRPr sz="1800"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 dirty="0"/>
              <a:t>20 Octobre 2026</a:t>
            </a:r>
            <a:endParaRPr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Plan</a:t>
            </a:r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body" idx="1"/>
          </p:nvPr>
        </p:nvSpPr>
        <p:spPr>
          <a:xfrm>
            <a:off x="181069" y="929134"/>
            <a:ext cx="4260301" cy="42568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04800" algn="l" rtl="0">
              <a:spcBef>
                <a:spcPts val="1600"/>
              </a:spcBef>
              <a:spcAft>
                <a:spcPts val="0"/>
              </a:spcAft>
              <a:buSzPts val="1200"/>
              <a:buAutoNum type="arabicPeriod"/>
            </a:pPr>
            <a:r>
              <a:rPr lang="fr" b="1" dirty="0"/>
              <a:t>Présentation du projet </a:t>
            </a:r>
            <a:endParaRPr b="1" dirty="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fr-FR" b="1" dirty="0"/>
              <a:t>Contexte Métiers &amp; Périmètre </a:t>
            </a:r>
            <a:endParaRPr b="1" dirty="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fr-FR" b="1" dirty="0"/>
              <a:t>Audit des Données, Fiabilisation ETL &amp; Idempotence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fr-FR" b="1" dirty="0"/>
              <a:t>Architecture Technique &amp; Modèle de Données MLD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fr-FR" b="1" dirty="0"/>
              <a:t>Sécurité, Authentification JWT &amp; Matrice des Droits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US" b="1" dirty="0"/>
              <a:t>REST API &amp; Restitution Front-End </a:t>
            </a:r>
            <a:r>
              <a:rPr lang="en-US" b="1" dirty="0" err="1"/>
              <a:t>Streamlit</a:t>
            </a:r>
            <a:endParaRPr lang="fr-FR" b="1" dirty="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fr-FR" b="1" dirty="0"/>
              <a:t>Tests Unitaires , d'Intégration &amp; couverture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fr-FR" b="1" dirty="0"/>
              <a:t>Démarche de Recette &amp; Gestion des Anomalies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fr-FR" b="1" dirty="0"/>
              <a:t>Choix Écoresponsables, Versioning &amp; Maintenance</a:t>
            </a:r>
            <a:endParaRPr lang="fr" b="1" dirty="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fr-FR" b="1" dirty="0"/>
              <a:t>Bilan, Limites &amp; Axes d'Amélioration </a:t>
            </a:r>
            <a:br>
              <a:rPr lang="fr" b="1" dirty="0"/>
            </a:br>
            <a:endParaRPr b="1" dirty="0"/>
          </a:p>
        </p:txBody>
      </p:sp>
      <p:pic>
        <p:nvPicPr>
          <p:cNvPr id="70" name="Google Shape;7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5152" y="2571750"/>
            <a:ext cx="4118875" cy="240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5151" y="187125"/>
            <a:ext cx="4118875" cy="226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232825" y="315925"/>
            <a:ext cx="86784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Contexte Vélo-Ville</a:t>
            </a:r>
            <a:endParaRPr/>
          </a:p>
        </p:txBody>
      </p:sp>
      <p:cxnSp>
        <p:nvCxnSpPr>
          <p:cNvPr id="83" name="Google Shape;83;p16"/>
          <p:cNvCxnSpPr/>
          <p:nvPr/>
        </p:nvCxnSpPr>
        <p:spPr>
          <a:xfrm>
            <a:off x="4384816" y="1529761"/>
            <a:ext cx="414900" cy="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84" name="Google Shape;84;p16"/>
          <p:cNvGrpSpPr/>
          <p:nvPr/>
        </p:nvGrpSpPr>
        <p:grpSpPr>
          <a:xfrm>
            <a:off x="1815910" y="1855975"/>
            <a:ext cx="2685450" cy="3086700"/>
            <a:chOff x="437825" y="1568589"/>
            <a:chExt cx="2685450" cy="3086700"/>
          </a:xfrm>
        </p:grpSpPr>
        <p:sp>
          <p:nvSpPr>
            <p:cNvPr id="85" name="Google Shape;85;p16"/>
            <p:cNvSpPr/>
            <p:nvPr/>
          </p:nvSpPr>
          <p:spPr>
            <a:xfrm>
              <a:off x="440075" y="1568589"/>
              <a:ext cx="2683200" cy="30867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6"/>
            <p:cNvSpPr txBox="1"/>
            <p:nvPr/>
          </p:nvSpPr>
          <p:spPr>
            <a:xfrm>
              <a:off x="437825" y="1568589"/>
              <a:ext cx="2683200" cy="411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7" name="Google Shape;87;p16"/>
          <p:cNvSpPr txBox="1">
            <a:spLocks noGrp="1"/>
          </p:cNvSpPr>
          <p:nvPr>
            <p:ph type="body" idx="4294967295"/>
          </p:nvPr>
        </p:nvSpPr>
        <p:spPr>
          <a:xfrm>
            <a:off x="1894710" y="1850261"/>
            <a:ext cx="2484300" cy="4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>
                <a:solidFill>
                  <a:schemeClr val="lt1"/>
                </a:solidFill>
              </a:rPr>
              <a:t>Périmètre livré 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88" name="Google Shape;88;p16"/>
          <p:cNvSpPr txBox="1">
            <a:spLocks noGrp="1"/>
          </p:cNvSpPr>
          <p:nvPr>
            <p:ph type="body" idx="4294967295"/>
          </p:nvPr>
        </p:nvSpPr>
        <p:spPr>
          <a:xfrm>
            <a:off x="1705685" y="2273589"/>
            <a:ext cx="2684900" cy="27433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800"/>
              </a:spcBef>
              <a:spcAft>
                <a:spcPts val="0"/>
              </a:spcAft>
              <a:buSzPts val="1800"/>
              <a:buChar char="➢"/>
            </a:pPr>
            <a:r>
              <a:rPr lang="fr-FR" sz="1400" dirty="0"/>
              <a:t>Ingestion et fiabilisation des 3 ressources </a:t>
            </a:r>
          </a:p>
          <a:p>
            <a:pPr lvl="1" indent="-342900">
              <a:spcBef>
                <a:spcPts val="800"/>
              </a:spcBef>
              <a:buSzPts val="1800"/>
              <a:buChar char="➢"/>
            </a:pPr>
            <a:r>
              <a:rPr lang="fr-FR" dirty="0"/>
              <a:t>Stations </a:t>
            </a:r>
          </a:p>
          <a:p>
            <a:pPr lvl="1" indent="-342900">
              <a:spcBef>
                <a:spcPts val="800"/>
              </a:spcBef>
              <a:buSzPts val="1800"/>
              <a:buChar char="➢"/>
            </a:pPr>
            <a:r>
              <a:rPr lang="fr-FR" dirty="0"/>
              <a:t>Trajets </a:t>
            </a:r>
          </a:p>
          <a:p>
            <a:pPr lvl="1" indent="-342900">
              <a:spcBef>
                <a:spcPts val="800"/>
              </a:spcBef>
              <a:buSzPts val="1800"/>
              <a:buChar char="➢"/>
            </a:pPr>
            <a:r>
              <a:rPr lang="fr-FR" dirty="0"/>
              <a:t>Incidents 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fr" sz="1400" dirty="0"/>
              <a:t>API Restful sécurisée (JWT)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fr" sz="1400" dirty="0"/>
              <a:t>Restitution tabulaire Streamlit (2 profils)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endParaRPr dirty="0"/>
          </a:p>
        </p:txBody>
      </p:sp>
      <p:grpSp>
        <p:nvGrpSpPr>
          <p:cNvPr id="89" name="Google Shape;89;p16"/>
          <p:cNvGrpSpPr/>
          <p:nvPr/>
        </p:nvGrpSpPr>
        <p:grpSpPr>
          <a:xfrm>
            <a:off x="4608485" y="1855975"/>
            <a:ext cx="2683200" cy="3086700"/>
            <a:chOff x="3230400" y="1568589"/>
            <a:chExt cx="2683200" cy="3086700"/>
          </a:xfrm>
        </p:grpSpPr>
        <p:sp>
          <p:nvSpPr>
            <p:cNvPr id="90" name="Google Shape;90;p16"/>
            <p:cNvSpPr/>
            <p:nvPr/>
          </p:nvSpPr>
          <p:spPr>
            <a:xfrm>
              <a:off x="3230400" y="1568589"/>
              <a:ext cx="2683200" cy="30867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6"/>
            <p:cNvSpPr txBox="1"/>
            <p:nvPr/>
          </p:nvSpPr>
          <p:spPr>
            <a:xfrm>
              <a:off x="3230400" y="1568600"/>
              <a:ext cx="2683200" cy="411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" name="Google Shape;92;p16"/>
          <p:cNvSpPr txBox="1">
            <a:spLocks noGrp="1"/>
          </p:cNvSpPr>
          <p:nvPr>
            <p:ph type="body" idx="4294967295"/>
          </p:nvPr>
        </p:nvSpPr>
        <p:spPr>
          <a:xfrm>
            <a:off x="4694885" y="1850261"/>
            <a:ext cx="2484300" cy="4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>
                <a:solidFill>
                  <a:schemeClr val="lt1"/>
                </a:solidFill>
              </a:rPr>
              <a:t>Périmètre reporté 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93" name="Google Shape;93;p16"/>
          <p:cNvSpPr txBox="1">
            <a:spLocks noGrp="1"/>
          </p:cNvSpPr>
          <p:nvPr>
            <p:ph type="body" idx="4294967295"/>
          </p:nvPr>
        </p:nvSpPr>
        <p:spPr>
          <a:xfrm>
            <a:off x="4694910" y="2378663"/>
            <a:ext cx="2484300" cy="256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 dirty="0"/>
          </a:p>
          <a:p>
            <a:pPr marL="457200" lvl="0" indent="-342900" algn="l" rtl="0">
              <a:spcBef>
                <a:spcPts val="800"/>
              </a:spcBef>
              <a:spcAft>
                <a:spcPts val="0"/>
              </a:spcAft>
              <a:buSzPts val="1800"/>
              <a:buChar char="➢"/>
            </a:pPr>
            <a:r>
              <a:rPr lang="fr-FR" dirty="0"/>
              <a:t>Données météo </a:t>
            </a:r>
          </a:p>
          <a:p>
            <a:pPr marL="457200" lvl="0" indent="-342900" algn="l" rtl="0">
              <a:spcBef>
                <a:spcPts val="800"/>
              </a:spcBef>
              <a:spcAft>
                <a:spcPts val="0"/>
              </a:spcAft>
              <a:buSzPts val="1800"/>
              <a:buChar char="➢"/>
            </a:pPr>
            <a:r>
              <a:rPr lang="fr-FR" dirty="0"/>
              <a:t>Modules d’anticipation/prédiction</a:t>
            </a:r>
            <a:endParaRPr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67CC21E-5DEE-4994-EED7-9C0C46901FE8}"/>
              </a:ext>
            </a:extLst>
          </p:cNvPr>
          <p:cNvSpPr txBox="1"/>
          <p:nvPr/>
        </p:nvSpPr>
        <p:spPr>
          <a:xfrm>
            <a:off x="232774" y="1147225"/>
            <a:ext cx="86783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Besoin :</a:t>
            </a:r>
            <a:r>
              <a:rPr lang="fr-FR" dirty="0"/>
              <a:t> Valoriser les données hétérogènes de 120 stations, 1 800 vélos et ~9 000 trajets/jour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>
            <a:spLocks noGrp="1"/>
          </p:cNvSpPr>
          <p:nvPr>
            <p:ph type="title"/>
          </p:nvPr>
        </p:nvSpPr>
        <p:spPr>
          <a:xfrm>
            <a:off x="232825" y="315925"/>
            <a:ext cx="86784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/>
              <a:t>Audit données &amp; Ingestion ETL</a:t>
            </a:r>
            <a:endParaRPr dirty="0"/>
          </a:p>
        </p:txBody>
      </p:sp>
      <p:cxnSp>
        <p:nvCxnSpPr>
          <p:cNvPr id="99" name="Google Shape;99;p17"/>
          <p:cNvCxnSpPr/>
          <p:nvPr/>
        </p:nvCxnSpPr>
        <p:spPr>
          <a:xfrm>
            <a:off x="4364550" y="1242375"/>
            <a:ext cx="414900" cy="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00" name="Google Shape;100;p17"/>
          <p:cNvGrpSpPr/>
          <p:nvPr/>
        </p:nvGrpSpPr>
        <p:grpSpPr>
          <a:xfrm>
            <a:off x="631477" y="1611425"/>
            <a:ext cx="3769298" cy="3086700"/>
            <a:chOff x="437825" y="1568589"/>
            <a:chExt cx="2685450" cy="3086700"/>
          </a:xfrm>
        </p:grpSpPr>
        <p:sp>
          <p:nvSpPr>
            <p:cNvPr id="101" name="Google Shape;101;p17"/>
            <p:cNvSpPr/>
            <p:nvPr/>
          </p:nvSpPr>
          <p:spPr>
            <a:xfrm>
              <a:off x="440075" y="1568589"/>
              <a:ext cx="2683200" cy="30867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7"/>
            <p:cNvSpPr txBox="1"/>
            <p:nvPr/>
          </p:nvSpPr>
          <p:spPr>
            <a:xfrm>
              <a:off x="437825" y="1568589"/>
              <a:ext cx="2683200" cy="411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7"/>
          <p:cNvSpPr txBox="1">
            <a:spLocks noGrp="1"/>
          </p:cNvSpPr>
          <p:nvPr>
            <p:ph type="body" idx="4294967295"/>
          </p:nvPr>
        </p:nvSpPr>
        <p:spPr>
          <a:xfrm>
            <a:off x="597689" y="1593274"/>
            <a:ext cx="3766140" cy="4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solidFill>
                  <a:schemeClr val="lt1"/>
                </a:solidFill>
              </a:rPr>
              <a:t>Stratégie de Fiabilisation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04" name="Google Shape;104;p17"/>
          <p:cNvSpPr txBox="1">
            <a:spLocks noGrp="1"/>
          </p:cNvSpPr>
          <p:nvPr>
            <p:ph type="body" idx="4294967295"/>
          </p:nvPr>
        </p:nvSpPr>
        <p:spPr>
          <a:xfrm>
            <a:off x="552428" y="2039023"/>
            <a:ext cx="3975300" cy="256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800"/>
              </a:spcBef>
              <a:spcAft>
                <a:spcPts val="0"/>
              </a:spcAft>
              <a:buSzPts val="1800"/>
              <a:buChar char="➢"/>
            </a:pPr>
            <a:r>
              <a:rPr lang="fr-FR" sz="1400" dirty="0"/>
              <a:t>Fonctions pures sans BDD (RG1 à RG8):</a:t>
            </a:r>
          </a:p>
          <a:p>
            <a:pPr lvl="1" indent="-342900">
              <a:spcBef>
                <a:spcPts val="800"/>
              </a:spcBef>
              <a:buSzPts val="1800"/>
              <a:buChar char="➢"/>
            </a:pPr>
            <a:r>
              <a:rPr lang="fr-FR" sz="1100" i="1" dirty="0"/>
              <a:t>Normalisation</a:t>
            </a:r>
            <a:r>
              <a:rPr lang="fr-FR" sz="1100" dirty="0"/>
              <a:t> : Correction automatique de la casse, suppression d'espaces superflus, formats ISO 8601</a:t>
            </a:r>
          </a:p>
          <a:p>
            <a:pPr lvl="1" indent="-342900">
              <a:spcBef>
                <a:spcPts val="800"/>
              </a:spcBef>
              <a:buSzPts val="1800"/>
              <a:buChar char="➢"/>
            </a:pPr>
            <a:r>
              <a:rPr lang="fr-FR" sz="1100" i="1" dirty="0"/>
              <a:t>Rejet strict (RG1 à RG8): isolation des durées &lt;=0, stations d’origine inconnues ou incohérences chronologiques</a:t>
            </a:r>
            <a:endParaRPr dirty="0"/>
          </a:p>
        </p:txBody>
      </p:sp>
      <p:grpSp>
        <p:nvGrpSpPr>
          <p:cNvPr id="105" name="Google Shape;105;p17"/>
          <p:cNvGrpSpPr/>
          <p:nvPr/>
        </p:nvGrpSpPr>
        <p:grpSpPr>
          <a:xfrm>
            <a:off x="4571882" y="1611425"/>
            <a:ext cx="4085977" cy="3086700"/>
            <a:chOff x="3230400" y="1568589"/>
            <a:chExt cx="2683200" cy="3086700"/>
          </a:xfrm>
        </p:grpSpPr>
        <p:sp>
          <p:nvSpPr>
            <p:cNvPr id="106" name="Google Shape;106;p17"/>
            <p:cNvSpPr/>
            <p:nvPr/>
          </p:nvSpPr>
          <p:spPr>
            <a:xfrm>
              <a:off x="3230400" y="1568589"/>
              <a:ext cx="2683200" cy="30867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7"/>
            <p:cNvSpPr txBox="1"/>
            <p:nvPr/>
          </p:nvSpPr>
          <p:spPr>
            <a:xfrm>
              <a:off x="3230400" y="1568600"/>
              <a:ext cx="2683200" cy="411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8" name="Google Shape;108;p17"/>
          <p:cNvSpPr txBox="1">
            <a:spLocks noGrp="1"/>
          </p:cNvSpPr>
          <p:nvPr>
            <p:ph type="body" idx="4294967295"/>
          </p:nvPr>
        </p:nvSpPr>
        <p:spPr>
          <a:xfrm>
            <a:off x="4552835" y="1605700"/>
            <a:ext cx="3389381" cy="4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solidFill>
                  <a:schemeClr val="lt1"/>
                </a:solidFill>
              </a:rPr>
              <a:t>Garantie ETL &amp;  Idempotence</a:t>
            </a:r>
            <a:r>
              <a:rPr lang="fr" dirty="0">
                <a:solidFill>
                  <a:schemeClr val="lt1"/>
                </a:solidFill>
              </a:rPr>
              <a:t> d’exploitation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09" name="Google Shape;109;p17"/>
          <p:cNvSpPr txBox="1">
            <a:spLocks noGrp="1"/>
          </p:cNvSpPr>
          <p:nvPr>
            <p:ph type="body" idx="4294967295"/>
          </p:nvPr>
        </p:nvSpPr>
        <p:spPr>
          <a:xfrm>
            <a:off x="4826624" y="2134100"/>
            <a:ext cx="3769200" cy="256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 dirty="0"/>
          </a:p>
          <a:p>
            <a:pPr marL="457200" lvl="0" indent="-311150" algn="l" rtl="0">
              <a:spcBef>
                <a:spcPts val="800"/>
              </a:spcBef>
              <a:spcAft>
                <a:spcPts val="0"/>
              </a:spcAft>
              <a:buSzPts val="1300"/>
              <a:buChar char="➢"/>
            </a:pPr>
            <a:r>
              <a:rPr lang="fr-FR" sz="1400" dirty="0"/>
              <a:t>Production d'un journal des rejets et d’un journal d’avertissements</a:t>
            </a:r>
            <a:endParaRPr lang="fr-FR" sz="1300" dirty="0"/>
          </a:p>
          <a:p>
            <a:pPr marL="457200" lvl="0" indent="-311150" algn="l" rtl="0">
              <a:spcBef>
                <a:spcPts val="800"/>
              </a:spcBef>
              <a:spcAft>
                <a:spcPts val="0"/>
              </a:spcAft>
              <a:buSzPts val="1300"/>
              <a:buChar char="➢"/>
            </a:pPr>
            <a:r>
              <a:rPr lang="fr-FR" sz="1300" dirty="0"/>
              <a:t>Idempotence: Re jouabilité infinie du script (importer.py) sans doublons , ni modification des comptages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AB7E9B8F-C566-B073-10FB-FB915AEB32F8}"/>
              </a:ext>
            </a:extLst>
          </p:cNvPr>
          <p:cNvSpPr txBox="1"/>
          <p:nvPr/>
        </p:nvSpPr>
        <p:spPr>
          <a:xfrm>
            <a:off x="232774" y="1147225"/>
            <a:ext cx="86783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Audit des 2 330 lignes brutes :</a:t>
            </a:r>
            <a:r>
              <a:rPr lang="fr-FR" dirty="0"/>
              <a:t> Identification des doublons, types invalides, valeurs négatives/nulles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>
            <a:spLocks noGrp="1"/>
          </p:cNvSpPr>
          <p:nvPr>
            <p:ph type="title"/>
          </p:nvPr>
        </p:nvSpPr>
        <p:spPr>
          <a:xfrm>
            <a:off x="232825" y="315925"/>
            <a:ext cx="86784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A</a:t>
            </a:r>
            <a:r>
              <a:rPr lang="fr" dirty="0"/>
              <a:t>rchitecture Technique &amp; Modèle MLD</a:t>
            </a:r>
            <a:endParaRPr dirty="0"/>
          </a:p>
        </p:txBody>
      </p:sp>
      <p:cxnSp>
        <p:nvCxnSpPr>
          <p:cNvPr id="99" name="Google Shape;99;p17"/>
          <p:cNvCxnSpPr/>
          <p:nvPr/>
        </p:nvCxnSpPr>
        <p:spPr>
          <a:xfrm>
            <a:off x="4364550" y="1242375"/>
            <a:ext cx="414900" cy="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00" name="Google Shape;100;p17"/>
          <p:cNvGrpSpPr/>
          <p:nvPr/>
        </p:nvGrpSpPr>
        <p:grpSpPr>
          <a:xfrm>
            <a:off x="631477" y="1611425"/>
            <a:ext cx="3769298" cy="3086700"/>
            <a:chOff x="437825" y="1568589"/>
            <a:chExt cx="2685450" cy="3086700"/>
          </a:xfrm>
        </p:grpSpPr>
        <p:sp>
          <p:nvSpPr>
            <p:cNvPr id="101" name="Google Shape;101;p17"/>
            <p:cNvSpPr/>
            <p:nvPr/>
          </p:nvSpPr>
          <p:spPr>
            <a:xfrm>
              <a:off x="440075" y="1568589"/>
              <a:ext cx="2683200" cy="30867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7"/>
            <p:cNvSpPr txBox="1"/>
            <p:nvPr/>
          </p:nvSpPr>
          <p:spPr>
            <a:xfrm>
              <a:off x="437825" y="1568589"/>
              <a:ext cx="2683200" cy="411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7"/>
          <p:cNvSpPr txBox="1">
            <a:spLocks noGrp="1"/>
          </p:cNvSpPr>
          <p:nvPr>
            <p:ph type="body" idx="4294967295"/>
          </p:nvPr>
        </p:nvSpPr>
        <p:spPr>
          <a:xfrm>
            <a:off x="597689" y="1593274"/>
            <a:ext cx="3766140" cy="4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solidFill>
                  <a:schemeClr val="lt1"/>
                </a:solidFill>
              </a:rPr>
              <a:t> architecture 3-Tiers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04" name="Google Shape;104;p17"/>
          <p:cNvSpPr txBox="1">
            <a:spLocks noGrp="1"/>
          </p:cNvSpPr>
          <p:nvPr>
            <p:ph type="body" idx="4294967295"/>
          </p:nvPr>
        </p:nvSpPr>
        <p:spPr>
          <a:xfrm>
            <a:off x="669995" y="2091275"/>
            <a:ext cx="3975300" cy="256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 dirty="0"/>
          </a:p>
          <a:p>
            <a:pPr marL="457200" lvl="0" indent="-342900" algn="l" rtl="0">
              <a:spcBef>
                <a:spcPts val="800"/>
              </a:spcBef>
              <a:spcAft>
                <a:spcPts val="0"/>
              </a:spcAft>
              <a:buSzPts val="1800"/>
              <a:buChar char="➢"/>
            </a:pPr>
            <a:r>
              <a:rPr lang="fr-FR" sz="1400" b="1" i="0" dirty="0">
                <a:solidFill>
                  <a:srgbClr val="334155"/>
                </a:solidFill>
                <a:effectLst/>
                <a:latin typeface="Plus Jakarta Sans"/>
              </a:rPr>
              <a:t>BDD: </a:t>
            </a:r>
            <a:r>
              <a:rPr lang="fr-FR" sz="1400" b="1" i="0" dirty="0" err="1">
                <a:solidFill>
                  <a:srgbClr val="334155"/>
                </a:solidFill>
                <a:effectLst/>
                <a:latin typeface="Plus Jakarta Sans"/>
              </a:rPr>
              <a:t>PostgrSQL</a:t>
            </a:r>
            <a:r>
              <a:rPr lang="fr-FR" sz="1400" b="1" i="0" dirty="0">
                <a:solidFill>
                  <a:srgbClr val="334155"/>
                </a:solidFill>
                <a:effectLst/>
                <a:latin typeface="Plus Jakarta Sans"/>
              </a:rPr>
              <a:t> 14+</a:t>
            </a:r>
          </a:p>
          <a:p>
            <a:pPr lvl="1" indent="-342900">
              <a:spcBef>
                <a:spcPts val="800"/>
              </a:spcBef>
              <a:buSzPts val="1800"/>
              <a:buChar char="➢"/>
            </a:pPr>
            <a:r>
              <a:rPr lang="fr-FR" sz="1000" b="1" i="0" dirty="0">
                <a:solidFill>
                  <a:srgbClr val="334155"/>
                </a:solidFill>
                <a:effectLst/>
                <a:latin typeface="Plus Jakarta Sans"/>
              </a:rPr>
              <a:t>Stations/ trajets/ incidents/ utilisateurs</a:t>
            </a:r>
          </a:p>
          <a:p>
            <a:pPr marL="457200" lvl="0" indent="-342900" algn="l" rtl="0">
              <a:spcBef>
                <a:spcPts val="800"/>
              </a:spcBef>
              <a:spcAft>
                <a:spcPts val="0"/>
              </a:spcAft>
              <a:buSzPts val="1800"/>
              <a:buChar char="➢"/>
            </a:pPr>
            <a:r>
              <a:rPr lang="fr-FR" sz="1400" b="0" i="1" dirty="0" err="1">
                <a:solidFill>
                  <a:srgbClr val="334155"/>
                </a:solidFill>
                <a:effectLst/>
                <a:latin typeface="Plus Jakarta Sans"/>
              </a:rPr>
              <a:t>Back-End</a:t>
            </a:r>
            <a:r>
              <a:rPr lang="fr-FR" sz="1400" b="0" i="1" dirty="0">
                <a:solidFill>
                  <a:srgbClr val="334155"/>
                </a:solidFill>
                <a:effectLst/>
                <a:latin typeface="Plus Jakarta Sans"/>
              </a:rPr>
              <a:t>: </a:t>
            </a:r>
            <a:r>
              <a:rPr lang="fr-FR" sz="1400" b="0" i="1" dirty="0" err="1">
                <a:solidFill>
                  <a:srgbClr val="334155"/>
                </a:solidFill>
                <a:effectLst/>
                <a:latin typeface="Plus Jakarta Sans"/>
              </a:rPr>
              <a:t>FastAPI</a:t>
            </a:r>
            <a:r>
              <a:rPr lang="fr-FR" sz="1400" b="0" i="1" dirty="0">
                <a:solidFill>
                  <a:srgbClr val="334155"/>
                </a:solidFill>
                <a:effectLst/>
                <a:latin typeface="Plus Jakarta Sans"/>
              </a:rPr>
              <a:t> + SQL </a:t>
            </a:r>
            <a:r>
              <a:rPr lang="fr-FR" sz="1400" b="0" i="1" dirty="0" err="1">
                <a:solidFill>
                  <a:srgbClr val="334155"/>
                </a:solidFill>
                <a:effectLst/>
                <a:latin typeface="Plus Jakarta Sans"/>
              </a:rPr>
              <a:t>Alchemy</a:t>
            </a:r>
            <a:r>
              <a:rPr lang="fr-FR" sz="1400" b="0" i="1" dirty="0">
                <a:solidFill>
                  <a:srgbClr val="334155"/>
                </a:solidFill>
                <a:effectLst/>
                <a:latin typeface="Plus Jakarta Sans"/>
              </a:rPr>
              <a:t> +</a:t>
            </a:r>
            <a:r>
              <a:rPr lang="fr-FR" sz="1400" b="0" i="1" dirty="0" err="1">
                <a:solidFill>
                  <a:srgbClr val="334155"/>
                </a:solidFill>
                <a:effectLst/>
                <a:latin typeface="Plus Jakarta Sans"/>
              </a:rPr>
              <a:t>Pydantic</a:t>
            </a:r>
            <a:endParaRPr lang="fr-FR" sz="1400" b="0" i="1" dirty="0">
              <a:solidFill>
                <a:srgbClr val="334155"/>
              </a:solidFill>
              <a:effectLst/>
              <a:latin typeface="Plus Jakarta Sans"/>
            </a:endParaRPr>
          </a:p>
          <a:p>
            <a:pPr marL="457200" lvl="0" indent="-342900" algn="l" rtl="0">
              <a:spcBef>
                <a:spcPts val="800"/>
              </a:spcBef>
              <a:spcAft>
                <a:spcPts val="0"/>
              </a:spcAft>
              <a:buSzPts val="1800"/>
              <a:buChar char="➢"/>
            </a:pPr>
            <a:r>
              <a:rPr lang="fr-FR" sz="1400" i="1" dirty="0" err="1">
                <a:solidFill>
                  <a:srgbClr val="334155"/>
                </a:solidFill>
                <a:latin typeface="Plus Jakarta Sans"/>
              </a:rPr>
              <a:t>Front-End</a:t>
            </a:r>
            <a:r>
              <a:rPr lang="fr-FR" sz="1400" i="1" dirty="0">
                <a:solidFill>
                  <a:srgbClr val="334155"/>
                </a:solidFill>
                <a:latin typeface="Plus Jakarta Sans"/>
              </a:rPr>
              <a:t> : </a:t>
            </a:r>
            <a:r>
              <a:rPr lang="fr-FR" sz="1400" i="1" dirty="0" err="1">
                <a:solidFill>
                  <a:srgbClr val="334155"/>
                </a:solidFill>
                <a:latin typeface="Plus Jakarta Sans"/>
              </a:rPr>
              <a:t>Streamlit</a:t>
            </a:r>
            <a:r>
              <a:rPr lang="fr-FR" sz="1400" i="1" dirty="0">
                <a:solidFill>
                  <a:srgbClr val="334155"/>
                </a:solidFill>
                <a:latin typeface="Plus Jakarta Sans"/>
              </a:rPr>
              <a:t> responsive</a:t>
            </a:r>
            <a:r>
              <a:rPr lang="fr-FR" sz="1400" b="0" i="1" dirty="0">
                <a:solidFill>
                  <a:srgbClr val="334155"/>
                </a:solidFill>
                <a:effectLst/>
                <a:latin typeface="Plus Jakarta Sans"/>
              </a:rPr>
              <a:t> </a:t>
            </a:r>
          </a:p>
          <a:p>
            <a:pPr marL="4572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grpSp>
        <p:nvGrpSpPr>
          <p:cNvPr id="105" name="Google Shape;105;p17"/>
          <p:cNvGrpSpPr/>
          <p:nvPr/>
        </p:nvGrpSpPr>
        <p:grpSpPr>
          <a:xfrm>
            <a:off x="4571882" y="1611425"/>
            <a:ext cx="4085977" cy="3086700"/>
            <a:chOff x="3230400" y="1568589"/>
            <a:chExt cx="2683200" cy="3086700"/>
          </a:xfrm>
        </p:grpSpPr>
        <p:sp>
          <p:nvSpPr>
            <p:cNvPr id="106" name="Google Shape;106;p17"/>
            <p:cNvSpPr/>
            <p:nvPr/>
          </p:nvSpPr>
          <p:spPr>
            <a:xfrm>
              <a:off x="3230400" y="1568589"/>
              <a:ext cx="2683200" cy="30867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7"/>
            <p:cNvSpPr txBox="1"/>
            <p:nvPr/>
          </p:nvSpPr>
          <p:spPr>
            <a:xfrm>
              <a:off x="3230400" y="1568600"/>
              <a:ext cx="2683200" cy="411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8" name="Google Shape;108;p17"/>
          <p:cNvSpPr txBox="1">
            <a:spLocks noGrp="1"/>
          </p:cNvSpPr>
          <p:nvPr>
            <p:ph type="body" idx="4294967295"/>
          </p:nvPr>
        </p:nvSpPr>
        <p:spPr>
          <a:xfrm>
            <a:off x="4552835" y="1605700"/>
            <a:ext cx="4358390" cy="4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solidFill>
                  <a:schemeClr val="lt1"/>
                </a:solidFill>
              </a:rPr>
              <a:t> Garanties du schéma relationnel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09" name="Google Shape;109;p17"/>
          <p:cNvSpPr txBox="1">
            <a:spLocks noGrp="1"/>
          </p:cNvSpPr>
          <p:nvPr>
            <p:ph type="body" idx="4294967295"/>
          </p:nvPr>
        </p:nvSpPr>
        <p:spPr>
          <a:xfrm>
            <a:off x="4826624" y="2134100"/>
            <a:ext cx="3769200" cy="256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 dirty="0"/>
          </a:p>
          <a:p>
            <a:pPr marL="457200" lvl="0" indent="-311150" algn="l" rtl="0">
              <a:spcBef>
                <a:spcPts val="800"/>
              </a:spcBef>
              <a:spcAft>
                <a:spcPts val="0"/>
              </a:spcAft>
              <a:buSzPts val="1300"/>
              <a:buChar char="➢"/>
            </a:pPr>
            <a:r>
              <a:rPr lang="fr-FR" sz="1400" dirty="0">
                <a:solidFill>
                  <a:srgbClr val="334155"/>
                </a:solidFill>
                <a:latin typeface="Plus Jakarta Sans"/>
              </a:rPr>
              <a:t>Clés étrangères vers </a:t>
            </a:r>
            <a:r>
              <a:rPr lang="fr-FR" sz="1400" b="1" i="1" dirty="0">
                <a:solidFill>
                  <a:srgbClr val="334155"/>
                </a:solidFill>
                <a:latin typeface="Plus Jakarta Sans"/>
              </a:rPr>
              <a:t>Station</a:t>
            </a:r>
            <a:r>
              <a:rPr lang="fr-FR" sz="1400" dirty="0">
                <a:solidFill>
                  <a:srgbClr val="334155"/>
                </a:solidFill>
                <a:latin typeface="Plus Jakarta Sans"/>
              </a:rPr>
              <a:t> obligatoires </a:t>
            </a:r>
            <a:r>
              <a:rPr lang="fr-FR" sz="1400" dirty="0" err="1">
                <a:solidFill>
                  <a:srgbClr val="334155"/>
                </a:solidFill>
                <a:latin typeface="Plus Jakarta Sans"/>
              </a:rPr>
              <a:t>pr</a:t>
            </a:r>
            <a:r>
              <a:rPr lang="fr-FR" sz="1400" dirty="0">
                <a:solidFill>
                  <a:srgbClr val="334155"/>
                </a:solidFill>
                <a:latin typeface="Plus Jakarta Sans"/>
              </a:rPr>
              <a:t> les départs de trajets et stations visées par un incident</a:t>
            </a:r>
          </a:p>
          <a:p>
            <a:pPr marL="457200" lvl="0" indent="-311150" algn="l" rtl="0">
              <a:spcBef>
                <a:spcPts val="800"/>
              </a:spcBef>
              <a:spcAft>
                <a:spcPts val="0"/>
              </a:spcAft>
              <a:buSzPts val="1300"/>
              <a:buChar char="➢"/>
            </a:pPr>
            <a:r>
              <a:rPr lang="fr-FR" sz="1400" dirty="0">
                <a:solidFill>
                  <a:srgbClr val="334155"/>
                </a:solidFill>
                <a:latin typeface="Plus Jakarta Sans"/>
              </a:rPr>
              <a:t>Contraintes d’intégrité ‘durée &gt;0, statut restreint à </a:t>
            </a:r>
            <a:r>
              <a:rPr lang="fr-FR" sz="1400" b="1" i="1" dirty="0">
                <a:solidFill>
                  <a:srgbClr val="334155"/>
                </a:solidFill>
                <a:latin typeface="Plus Jakarta Sans"/>
              </a:rPr>
              <a:t>ouvert, </a:t>
            </a:r>
            <a:r>
              <a:rPr lang="fr-FR" sz="1400" b="1" i="1" dirty="0" err="1">
                <a:solidFill>
                  <a:srgbClr val="334155"/>
                </a:solidFill>
                <a:latin typeface="Plus Jakarta Sans"/>
              </a:rPr>
              <a:t>en_cours</a:t>
            </a:r>
            <a:r>
              <a:rPr lang="fr-FR" sz="1400" b="1" i="1" dirty="0">
                <a:solidFill>
                  <a:srgbClr val="334155"/>
                </a:solidFill>
                <a:latin typeface="Plus Jakarta Sans"/>
              </a:rPr>
              <a:t>,  </a:t>
            </a:r>
            <a:r>
              <a:rPr lang="fr-FR" sz="1400" b="1" i="1" dirty="0" err="1">
                <a:solidFill>
                  <a:srgbClr val="334155"/>
                </a:solidFill>
                <a:latin typeface="Plus Jakarta Sans"/>
              </a:rPr>
              <a:t>resolu</a:t>
            </a:r>
            <a:r>
              <a:rPr lang="fr-FR" sz="1400" dirty="0">
                <a:solidFill>
                  <a:srgbClr val="334155"/>
                </a:solidFill>
                <a:latin typeface="Plus Jakarta Sans"/>
              </a:rPr>
              <a:t>)</a:t>
            </a:r>
            <a:endParaRPr lang="fr-FR" sz="1300" dirty="0"/>
          </a:p>
        </p:txBody>
      </p:sp>
    </p:spTree>
    <p:extLst>
      <p:ext uri="{BB962C8B-B14F-4D97-AF65-F5344CB8AC3E}">
        <p14:creationId xmlns:p14="http://schemas.microsoft.com/office/powerpoint/2010/main" val="799945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>
            <a:spLocks noGrp="1"/>
          </p:cNvSpPr>
          <p:nvPr>
            <p:ph type="title"/>
          </p:nvPr>
        </p:nvSpPr>
        <p:spPr>
          <a:xfrm>
            <a:off x="232825" y="315925"/>
            <a:ext cx="86784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/>
              <a:t>Sécurité, Authentification &amp; Matrice des droits </a:t>
            </a:r>
            <a:endParaRPr dirty="0"/>
          </a:p>
        </p:txBody>
      </p:sp>
      <p:cxnSp>
        <p:nvCxnSpPr>
          <p:cNvPr id="99" name="Google Shape;99;p17"/>
          <p:cNvCxnSpPr/>
          <p:nvPr/>
        </p:nvCxnSpPr>
        <p:spPr>
          <a:xfrm>
            <a:off x="4364550" y="1242375"/>
            <a:ext cx="414900" cy="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00" name="Google Shape;100;p17"/>
          <p:cNvGrpSpPr/>
          <p:nvPr/>
        </p:nvGrpSpPr>
        <p:grpSpPr>
          <a:xfrm>
            <a:off x="631477" y="1611425"/>
            <a:ext cx="3769298" cy="3086700"/>
            <a:chOff x="437825" y="1568589"/>
            <a:chExt cx="2685450" cy="3086700"/>
          </a:xfrm>
        </p:grpSpPr>
        <p:sp>
          <p:nvSpPr>
            <p:cNvPr id="101" name="Google Shape;101;p17"/>
            <p:cNvSpPr/>
            <p:nvPr/>
          </p:nvSpPr>
          <p:spPr>
            <a:xfrm>
              <a:off x="440075" y="1568589"/>
              <a:ext cx="2683200" cy="30867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7"/>
            <p:cNvSpPr txBox="1"/>
            <p:nvPr/>
          </p:nvSpPr>
          <p:spPr>
            <a:xfrm>
              <a:off x="437825" y="1568589"/>
              <a:ext cx="2683200" cy="411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7"/>
          <p:cNvSpPr txBox="1">
            <a:spLocks noGrp="1"/>
          </p:cNvSpPr>
          <p:nvPr>
            <p:ph type="body" idx="4294967295"/>
          </p:nvPr>
        </p:nvSpPr>
        <p:spPr>
          <a:xfrm>
            <a:off x="597689" y="1593274"/>
            <a:ext cx="3766140" cy="4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solidFill>
                  <a:schemeClr val="lt1"/>
                </a:solidFill>
              </a:rPr>
              <a:t> Authentification &amp; Sécurité des données 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04" name="Google Shape;104;p17"/>
          <p:cNvSpPr txBox="1">
            <a:spLocks noGrp="1"/>
          </p:cNvSpPr>
          <p:nvPr>
            <p:ph type="body" idx="4294967295"/>
          </p:nvPr>
        </p:nvSpPr>
        <p:spPr>
          <a:xfrm>
            <a:off x="669995" y="2091275"/>
            <a:ext cx="3975300" cy="256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 dirty="0"/>
          </a:p>
          <a:p>
            <a:pPr marL="457200" lvl="0" indent="-342900" algn="l" rtl="0">
              <a:spcBef>
                <a:spcPts val="800"/>
              </a:spcBef>
              <a:spcAft>
                <a:spcPts val="0"/>
              </a:spcAft>
              <a:buSzPts val="1800"/>
              <a:buChar char="➢"/>
            </a:pPr>
            <a:r>
              <a:rPr lang="fr-FR" sz="1400" i="0" dirty="0">
                <a:solidFill>
                  <a:srgbClr val="334155"/>
                </a:solidFill>
                <a:effectLst/>
                <a:latin typeface="Plus Jakarta Sans"/>
              </a:rPr>
              <a:t>Mots de passe hachés avec </a:t>
            </a:r>
            <a:r>
              <a:rPr lang="fr-FR" sz="1400" i="0" dirty="0" err="1">
                <a:solidFill>
                  <a:srgbClr val="334155"/>
                </a:solidFill>
                <a:effectLst/>
                <a:latin typeface="Plus Jakarta Sans"/>
              </a:rPr>
              <a:t>bcrypt</a:t>
            </a:r>
            <a:r>
              <a:rPr lang="fr-FR" sz="1400" i="0" dirty="0">
                <a:solidFill>
                  <a:srgbClr val="334155"/>
                </a:solidFill>
                <a:effectLst/>
                <a:latin typeface="Plus Jakarta Sans"/>
              </a:rPr>
              <a:t> dans PostgreSQL</a:t>
            </a:r>
          </a:p>
          <a:p>
            <a:pPr marL="457200" lvl="0" indent="-342900" algn="l" rtl="0">
              <a:spcBef>
                <a:spcPts val="800"/>
              </a:spcBef>
              <a:spcAft>
                <a:spcPts val="0"/>
              </a:spcAft>
              <a:buSzPts val="1800"/>
              <a:buChar char="➢"/>
            </a:pPr>
            <a:r>
              <a:rPr lang="fr-FR" sz="1400" dirty="0">
                <a:solidFill>
                  <a:srgbClr val="334155"/>
                </a:solidFill>
                <a:latin typeface="Plus Jakarta Sans"/>
              </a:rPr>
              <a:t>Jeton JWT (HS256) à durée d’expiration limitée</a:t>
            </a:r>
          </a:p>
          <a:p>
            <a:pPr marL="457200" lvl="0" indent="-342900" algn="l" rtl="0">
              <a:spcBef>
                <a:spcPts val="800"/>
              </a:spcBef>
              <a:spcAft>
                <a:spcPts val="0"/>
              </a:spcAft>
              <a:buSzPts val="1800"/>
              <a:buChar char="➢"/>
            </a:pPr>
            <a:r>
              <a:rPr lang="fr-FR" sz="1400" i="0" dirty="0">
                <a:solidFill>
                  <a:srgbClr val="334155"/>
                </a:solidFill>
                <a:effectLst/>
                <a:latin typeface="Plus Jakarta Sans"/>
              </a:rPr>
              <a:t>Protection des variables sensibles via .</a:t>
            </a:r>
            <a:r>
              <a:rPr lang="fr-FR" sz="1400" i="0" dirty="0" err="1">
                <a:solidFill>
                  <a:srgbClr val="334155"/>
                </a:solidFill>
                <a:effectLst/>
                <a:latin typeface="Plus Jakarta Sans"/>
              </a:rPr>
              <a:t>env</a:t>
            </a:r>
            <a:endParaRPr lang="fr-FR" sz="1000" i="0" dirty="0">
              <a:solidFill>
                <a:srgbClr val="334155"/>
              </a:solidFill>
              <a:effectLst/>
              <a:latin typeface="Plus Jakarta Sans"/>
            </a:endParaRPr>
          </a:p>
          <a:p>
            <a:pPr marL="4572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grpSp>
        <p:nvGrpSpPr>
          <p:cNvPr id="105" name="Google Shape;105;p17"/>
          <p:cNvGrpSpPr/>
          <p:nvPr/>
        </p:nvGrpSpPr>
        <p:grpSpPr>
          <a:xfrm>
            <a:off x="4571882" y="1611425"/>
            <a:ext cx="4085977" cy="3086700"/>
            <a:chOff x="3230400" y="1568589"/>
            <a:chExt cx="2683200" cy="3086700"/>
          </a:xfrm>
        </p:grpSpPr>
        <p:sp>
          <p:nvSpPr>
            <p:cNvPr id="106" name="Google Shape;106;p17"/>
            <p:cNvSpPr/>
            <p:nvPr/>
          </p:nvSpPr>
          <p:spPr>
            <a:xfrm>
              <a:off x="3230400" y="1568589"/>
              <a:ext cx="2683200" cy="30867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7"/>
            <p:cNvSpPr txBox="1"/>
            <p:nvPr/>
          </p:nvSpPr>
          <p:spPr>
            <a:xfrm>
              <a:off x="3230400" y="1568600"/>
              <a:ext cx="2683200" cy="411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8" name="Google Shape;108;p17"/>
          <p:cNvSpPr txBox="1">
            <a:spLocks noGrp="1"/>
          </p:cNvSpPr>
          <p:nvPr>
            <p:ph type="body" idx="4294967295"/>
          </p:nvPr>
        </p:nvSpPr>
        <p:spPr>
          <a:xfrm>
            <a:off x="4552835" y="1605700"/>
            <a:ext cx="4358390" cy="4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solidFill>
                  <a:schemeClr val="lt1"/>
                </a:solidFill>
              </a:rPr>
              <a:t> Contrôle d’accès basé sur les rôles 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09" name="Google Shape;109;p17"/>
          <p:cNvSpPr txBox="1">
            <a:spLocks noGrp="1"/>
          </p:cNvSpPr>
          <p:nvPr>
            <p:ph type="body" idx="4294967295"/>
          </p:nvPr>
        </p:nvSpPr>
        <p:spPr>
          <a:xfrm>
            <a:off x="4826624" y="2134100"/>
            <a:ext cx="3769200" cy="256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 dirty="0"/>
          </a:p>
          <a:p>
            <a:pPr marL="457200" lvl="0" indent="-311150" algn="l" rtl="0">
              <a:spcBef>
                <a:spcPts val="800"/>
              </a:spcBef>
              <a:spcAft>
                <a:spcPts val="0"/>
              </a:spcAft>
              <a:buSzPts val="1300"/>
              <a:buChar char="➢"/>
            </a:pPr>
            <a:r>
              <a:rPr lang="fr-FR" sz="1400" dirty="0">
                <a:solidFill>
                  <a:srgbClr val="334155"/>
                </a:solidFill>
                <a:latin typeface="Plus Jakarta Sans"/>
              </a:rPr>
              <a:t>Direction: Lecture seule sur l’ensemble des ressources et indicateurs </a:t>
            </a:r>
          </a:p>
          <a:p>
            <a:pPr marL="457200" lvl="0" indent="-311150" algn="l" rtl="0">
              <a:spcBef>
                <a:spcPts val="800"/>
              </a:spcBef>
              <a:spcAft>
                <a:spcPts val="0"/>
              </a:spcAft>
              <a:buSzPts val="1300"/>
              <a:buChar char="➢"/>
            </a:pPr>
            <a:r>
              <a:rPr lang="fr-FR" sz="1400" dirty="0">
                <a:solidFill>
                  <a:srgbClr val="334155"/>
                </a:solidFill>
                <a:latin typeface="Plus Jakarta Sans"/>
              </a:rPr>
              <a:t>Exploitant: Lecture + Droit exclusif de modification du statut des incidents </a:t>
            </a:r>
          </a:p>
          <a:p>
            <a:pPr marL="457200" lvl="0" indent="-311150" algn="l" rtl="0">
              <a:spcBef>
                <a:spcPts val="800"/>
              </a:spcBef>
              <a:spcAft>
                <a:spcPts val="0"/>
              </a:spcAft>
              <a:buSzPts val="1300"/>
              <a:buChar char="➢"/>
            </a:pPr>
            <a:r>
              <a:rPr lang="fr-FR" sz="1400" dirty="0">
                <a:solidFill>
                  <a:srgbClr val="334155"/>
                </a:solidFill>
                <a:latin typeface="Plus Jakarta Sans"/>
              </a:rPr>
              <a:t>Gestion HTTP: si </a:t>
            </a:r>
            <a:r>
              <a:rPr lang="fr-FR" sz="1400" dirty="0" err="1">
                <a:solidFill>
                  <a:srgbClr val="334155"/>
                </a:solidFill>
                <a:latin typeface="Plus Jakarta Sans"/>
              </a:rPr>
              <a:t>token</a:t>
            </a:r>
            <a:r>
              <a:rPr lang="fr-FR" sz="1400" dirty="0">
                <a:solidFill>
                  <a:srgbClr val="334155"/>
                </a:solidFill>
                <a:latin typeface="Plus Jakarta Sans"/>
              </a:rPr>
              <a:t> absent/expiré (401), si rôle insuffisant (403)</a:t>
            </a:r>
          </a:p>
        </p:txBody>
      </p:sp>
    </p:spTree>
    <p:extLst>
      <p:ext uri="{BB962C8B-B14F-4D97-AF65-F5344CB8AC3E}">
        <p14:creationId xmlns:p14="http://schemas.microsoft.com/office/powerpoint/2010/main" val="2903827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>
            <a:spLocks noGrp="1"/>
          </p:cNvSpPr>
          <p:nvPr>
            <p:ph type="title"/>
          </p:nvPr>
        </p:nvSpPr>
        <p:spPr>
          <a:xfrm>
            <a:off x="232825" y="315925"/>
            <a:ext cx="86784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/>
              <a:t>API REST &amp; Restitution Front-End </a:t>
            </a:r>
            <a:endParaRPr dirty="0"/>
          </a:p>
        </p:txBody>
      </p:sp>
      <p:cxnSp>
        <p:nvCxnSpPr>
          <p:cNvPr id="99" name="Google Shape;99;p17"/>
          <p:cNvCxnSpPr/>
          <p:nvPr/>
        </p:nvCxnSpPr>
        <p:spPr>
          <a:xfrm>
            <a:off x="4364550" y="1242375"/>
            <a:ext cx="414900" cy="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00" name="Google Shape;100;p17"/>
          <p:cNvGrpSpPr/>
          <p:nvPr/>
        </p:nvGrpSpPr>
        <p:grpSpPr>
          <a:xfrm>
            <a:off x="631477" y="1611425"/>
            <a:ext cx="3769298" cy="3086700"/>
            <a:chOff x="437825" y="1568589"/>
            <a:chExt cx="2685450" cy="3086700"/>
          </a:xfrm>
        </p:grpSpPr>
        <p:sp>
          <p:nvSpPr>
            <p:cNvPr id="101" name="Google Shape;101;p17"/>
            <p:cNvSpPr/>
            <p:nvPr/>
          </p:nvSpPr>
          <p:spPr>
            <a:xfrm>
              <a:off x="440075" y="1568589"/>
              <a:ext cx="2683200" cy="30867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7"/>
            <p:cNvSpPr txBox="1"/>
            <p:nvPr/>
          </p:nvSpPr>
          <p:spPr>
            <a:xfrm>
              <a:off x="437825" y="1568589"/>
              <a:ext cx="2683200" cy="411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7"/>
          <p:cNvSpPr txBox="1">
            <a:spLocks noGrp="1"/>
          </p:cNvSpPr>
          <p:nvPr>
            <p:ph type="body" idx="4294967295"/>
          </p:nvPr>
        </p:nvSpPr>
        <p:spPr>
          <a:xfrm>
            <a:off x="597689" y="1593274"/>
            <a:ext cx="3766140" cy="4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solidFill>
                  <a:schemeClr val="lt1"/>
                </a:solidFill>
              </a:rPr>
              <a:t> API  </a:t>
            </a:r>
            <a:r>
              <a:rPr lang="fr-FR" dirty="0" err="1">
                <a:solidFill>
                  <a:schemeClr val="lt1"/>
                </a:solidFill>
              </a:rPr>
              <a:t>Restful</a:t>
            </a:r>
            <a:r>
              <a:rPr lang="fr-FR" dirty="0">
                <a:solidFill>
                  <a:schemeClr val="lt1"/>
                </a:solidFill>
              </a:rPr>
              <a:t> 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04" name="Google Shape;104;p17"/>
          <p:cNvSpPr txBox="1">
            <a:spLocks noGrp="1"/>
          </p:cNvSpPr>
          <p:nvPr>
            <p:ph type="body" idx="4294967295"/>
          </p:nvPr>
        </p:nvSpPr>
        <p:spPr>
          <a:xfrm>
            <a:off x="669995" y="2091275"/>
            <a:ext cx="3975300" cy="256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 dirty="0"/>
          </a:p>
          <a:p>
            <a:pPr marL="457200" lvl="0" indent="-342900" algn="l" rtl="0">
              <a:spcBef>
                <a:spcPts val="800"/>
              </a:spcBef>
              <a:spcAft>
                <a:spcPts val="0"/>
              </a:spcAft>
              <a:buSzPts val="1800"/>
              <a:buChar char="➢"/>
            </a:pPr>
            <a:r>
              <a:rPr lang="fr-FR" sz="1400" i="0" dirty="0" err="1">
                <a:solidFill>
                  <a:srgbClr val="334155"/>
                </a:solidFill>
                <a:effectLst/>
                <a:latin typeface="Plus Jakarta Sans"/>
              </a:rPr>
              <a:t>Endpoints</a:t>
            </a:r>
            <a:r>
              <a:rPr lang="fr-FR" sz="1400" i="0" dirty="0">
                <a:solidFill>
                  <a:srgbClr val="334155"/>
                </a:solidFill>
                <a:effectLst/>
                <a:latin typeface="Plus Jakarta Sans"/>
              </a:rPr>
              <a:t> d’agrégation SQL performants</a:t>
            </a:r>
          </a:p>
          <a:p>
            <a:pPr lvl="1" indent="-342900">
              <a:spcBef>
                <a:spcPts val="800"/>
              </a:spcBef>
              <a:buSzPts val="1800"/>
              <a:buChar char="➢"/>
            </a:pPr>
            <a:r>
              <a:rPr lang="fr-FR" sz="1100" dirty="0"/>
              <a:t>/indicateurs/</a:t>
            </a:r>
            <a:r>
              <a:rPr lang="fr-FR" sz="1100" dirty="0" err="1"/>
              <a:t>activite</a:t>
            </a:r>
            <a:r>
              <a:rPr lang="fr-FR" sz="1100" dirty="0"/>
              <a:t>-par-jou</a:t>
            </a:r>
            <a:r>
              <a:rPr lang="fr-FR" sz="1100" dirty="0">
                <a:solidFill>
                  <a:srgbClr val="334155"/>
                </a:solidFill>
                <a:latin typeface="Plus Jakarta Sans"/>
              </a:rPr>
              <a:t>r</a:t>
            </a:r>
          </a:p>
          <a:p>
            <a:pPr lvl="1" indent="-342900">
              <a:spcBef>
                <a:spcPts val="800"/>
              </a:spcBef>
              <a:buSzPts val="1800"/>
              <a:buChar char="➢"/>
            </a:pPr>
            <a:r>
              <a:rPr lang="fr-FR" sz="1100" dirty="0"/>
              <a:t>/stations-active</a:t>
            </a:r>
            <a:r>
              <a:rPr lang="fr-FR" sz="1100" dirty="0">
                <a:solidFill>
                  <a:srgbClr val="334155"/>
                </a:solidFill>
                <a:latin typeface="Plus Jakarta Sans"/>
              </a:rPr>
              <a:t>s</a:t>
            </a:r>
          </a:p>
          <a:p>
            <a:pPr lvl="1" indent="-342900">
              <a:spcBef>
                <a:spcPts val="800"/>
              </a:spcBef>
              <a:buSzPts val="1800"/>
              <a:buChar char="➢"/>
            </a:pPr>
            <a:r>
              <a:rPr lang="fr-FR" sz="1100" dirty="0"/>
              <a:t>/incidents-par-statu</a:t>
            </a:r>
            <a:r>
              <a:rPr lang="fr-FR" sz="1100" dirty="0">
                <a:solidFill>
                  <a:srgbClr val="334155"/>
                </a:solidFill>
                <a:latin typeface="Plus Jakarta Sans"/>
              </a:rPr>
              <a:t>t</a:t>
            </a:r>
            <a:r>
              <a:rPr lang="fr-FR" sz="1000" i="0" dirty="0">
                <a:solidFill>
                  <a:srgbClr val="334155"/>
                </a:solidFill>
                <a:effectLst/>
                <a:latin typeface="Plus Jakarta Sans"/>
              </a:rPr>
              <a:t> </a:t>
            </a:r>
          </a:p>
          <a:p>
            <a:pPr marL="457200" lvl="0" indent="-342900" algn="l" rtl="0">
              <a:spcBef>
                <a:spcPts val="800"/>
              </a:spcBef>
              <a:spcAft>
                <a:spcPts val="0"/>
              </a:spcAft>
              <a:buSzPts val="1800"/>
              <a:buChar char="➢"/>
            </a:pPr>
            <a:r>
              <a:rPr lang="fr-FR" sz="1400" dirty="0" err="1">
                <a:solidFill>
                  <a:srgbClr val="334155"/>
                </a:solidFill>
                <a:latin typeface="Plus Jakarta Sans"/>
              </a:rPr>
              <a:t>Endpoints</a:t>
            </a:r>
            <a:r>
              <a:rPr lang="fr-FR" sz="1400" dirty="0">
                <a:solidFill>
                  <a:srgbClr val="334155"/>
                </a:solidFill>
                <a:latin typeface="Plus Jakarta Sans"/>
              </a:rPr>
              <a:t> paginés et filtrables</a:t>
            </a:r>
            <a:endParaRPr lang="fr-FR" sz="1000" i="0" dirty="0">
              <a:solidFill>
                <a:srgbClr val="334155"/>
              </a:solidFill>
              <a:effectLst/>
              <a:latin typeface="Plus Jakarta Sans"/>
            </a:endParaRPr>
          </a:p>
          <a:p>
            <a:pPr marL="4572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grpSp>
        <p:nvGrpSpPr>
          <p:cNvPr id="105" name="Google Shape;105;p17"/>
          <p:cNvGrpSpPr/>
          <p:nvPr/>
        </p:nvGrpSpPr>
        <p:grpSpPr>
          <a:xfrm>
            <a:off x="4571882" y="1611425"/>
            <a:ext cx="4085977" cy="3086700"/>
            <a:chOff x="3230400" y="1568589"/>
            <a:chExt cx="2683200" cy="3086700"/>
          </a:xfrm>
        </p:grpSpPr>
        <p:sp>
          <p:nvSpPr>
            <p:cNvPr id="106" name="Google Shape;106;p17"/>
            <p:cNvSpPr/>
            <p:nvPr/>
          </p:nvSpPr>
          <p:spPr>
            <a:xfrm>
              <a:off x="3230400" y="1568589"/>
              <a:ext cx="2683200" cy="30867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7"/>
            <p:cNvSpPr txBox="1"/>
            <p:nvPr/>
          </p:nvSpPr>
          <p:spPr>
            <a:xfrm>
              <a:off x="3230400" y="1568600"/>
              <a:ext cx="2683200" cy="411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8" name="Google Shape;108;p17"/>
          <p:cNvSpPr txBox="1">
            <a:spLocks noGrp="1"/>
          </p:cNvSpPr>
          <p:nvPr>
            <p:ph type="body" idx="4294967295"/>
          </p:nvPr>
        </p:nvSpPr>
        <p:spPr>
          <a:xfrm>
            <a:off x="4552835" y="1605700"/>
            <a:ext cx="4358390" cy="4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solidFill>
                  <a:schemeClr val="lt1"/>
                </a:solidFill>
              </a:rPr>
              <a:t> Interface </a:t>
            </a:r>
            <a:r>
              <a:rPr lang="fr-FR" dirty="0" err="1">
                <a:solidFill>
                  <a:schemeClr val="lt1"/>
                </a:solidFill>
              </a:rPr>
              <a:t>Streamlit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09" name="Google Shape;109;p17"/>
          <p:cNvSpPr txBox="1">
            <a:spLocks noGrp="1"/>
          </p:cNvSpPr>
          <p:nvPr>
            <p:ph type="body" idx="4294967295"/>
          </p:nvPr>
        </p:nvSpPr>
        <p:spPr>
          <a:xfrm>
            <a:off x="4826624" y="2134100"/>
            <a:ext cx="3769200" cy="256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 dirty="0"/>
          </a:p>
          <a:p>
            <a:pPr marL="457200" lvl="0" indent="-311150" algn="l" rtl="0">
              <a:spcBef>
                <a:spcPts val="800"/>
              </a:spcBef>
              <a:spcAft>
                <a:spcPts val="0"/>
              </a:spcAft>
              <a:buSzPts val="1300"/>
              <a:buChar char="➢"/>
            </a:pPr>
            <a:r>
              <a:rPr lang="fr-FR" sz="1400" dirty="0">
                <a:solidFill>
                  <a:srgbClr val="334155"/>
                </a:solidFill>
                <a:latin typeface="Plus Jakarta Sans"/>
              </a:rPr>
              <a:t>Connexion (stockage et sécurisé en </a:t>
            </a:r>
            <a:r>
              <a:rPr lang="fr-FR" sz="1400" dirty="0" err="1">
                <a:solidFill>
                  <a:srgbClr val="334155"/>
                </a:solidFill>
                <a:latin typeface="Plus Jakarta Sans"/>
              </a:rPr>
              <a:t>st.session_state</a:t>
            </a:r>
            <a:r>
              <a:rPr lang="fr-FR" sz="1400" dirty="0">
                <a:solidFill>
                  <a:srgbClr val="334155"/>
                </a:solidFill>
                <a:latin typeface="Plus Jakarta Sans"/>
              </a:rPr>
              <a:t>)</a:t>
            </a:r>
          </a:p>
          <a:p>
            <a:pPr marL="457200" lvl="0" indent="-311150" algn="l" rtl="0">
              <a:spcBef>
                <a:spcPts val="800"/>
              </a:spcBef>
              <a:spcAft>
                <a:spcPts val="0"/>
              </a:spcAft>
              <a:buSzPts val="1300"/>
              <a:buChar char="➢"/>
            </a:pPr>
            <a:r>
              <a:rPr lang="fr-FR" sz="1400" dirty="0">
                <a:solidFill>
                  <a:srgbClr val="334155"/>
                </a:solidFill>
                <a:latin typeface="Plus Jakarta Sans"/>
              </a:rPr>
              <a:t>Ecrans « Stations », « Incidents », et « Indicateurs » (</a:t>
            </a:r>
            <a:r>
              <a:rPr lang="fr-FR" sz="1400" dirty="0" err="1">
                <a:solidFill>
                  <a:srgbClr val="334155"/>
                </a:solidFill>
                <a:latin typeface="Plus Jakarta Sans"/>
              </a:rPr>
              <a:t>st.metric</a:t>
            </a:r>
            <a:r>
              <a:rPr lang="fr-FR" sz="1400" dirty="0">
                <a:solidFill>
                  <a:srgbClr val="334155"/>
                </a:solidFill>
                <a:latin typeface="Plus Jakarta Sans"/>
              </a:rPr>
              <a:t> et </a:t>
            </a:r>
            <a:r>
              <a:rPr lang="fr-FR" sz="1400" dirty="0" err="1">
                <a:solidFill>
                  <a:srgbClr val="334155"/>
                </a:solidFill>
                <a:latin typeface="Plus Jakarta Sans"/>
              </a:rPr>
              <a:t>st.dataframe</a:t>
            </a:r>
            <a:r>
              <a:rPr lang="fr-FR" sz="1400" dirty="0">
                <a:solidFill>
                  <a:srgbClr val="334155"/>
                </a:solidFill>
                <a:latin typeface="Plus Jakarta San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78204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>
            <a:spLocks noGrp="1"/>
          </p:cNvSpPr>
          <p:nvPr>
            <p:ph type="title"/>
          </p:nvPr>
        </p:nvSpPr>
        <p:spPr>
          <a:xfrm>
            <a:off x="232825" y="315925"/>
            <a:ext cx="86784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Tests &amp; couverture </a:t>
            </a:r>
            <a:endParaRPr dirty="0"/>
          </a:p>
        </p:txBody>
      </p:sp>
      <p:cxnSp>
        <p:nvCxnSpPr>
          <p:cNvPr id="99" name="Google Shape;99;p17"/>
          <p:cNvCxnSpPr/>
          <p:nvPr/>
        </p:nvCxnSpPr>
        <p:spPr>
          <a:xfrm>
            <a:off x="4364550" y="1242375"/>
            <a:ext cx="414900" cy="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00" name="Google Shape;100;p17"/>
          <p:cNvGrpSpPr/>
          <p:nvPr/>
        </p:nvGrpSpPr>
        <p:grpSpPr>
          <a:xfrm>
            <a:off x="631477" y="1493858"/>
            <a:ext cx="3769298" cy="3086700"/>
            <a:chOff x="437825" y="1568589"/>
            <a:chExt cx="2685450" cy="3086700"/>
          </a:xfrm>
        </p:grpSpPr>
        <p:sp>
          <p:nvSpPr>
            <p:cNvPr id="101" name="Google Shape;101;p17"/>
            <p:cNvSpPr/>
            <p:nvPr/>
          </p:nvSpPr>
          <p:spPr>
            <a:xfrm>
              <a:off x="440075" y="1568589"/>
              <a:ext cx="2683200" cy="30867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7"/>
            <p:cNvSpPr txBox="1"/>
            <p:nvPr/>
          </p:nvSpPr>
          <p:spPr>
            <a:xfrm>
              <a:off x="437825" y="1568589"/>
              <a:ext cx="2683200" cy="411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7"/>
          <p:cNvSpPr txBox="1">
            <a:spLocks noGrp="1"/>
          </p:cNvSpPr>
          <p:nvPr>
            <p:ph type="body" idx="4294967295"/>
          </p:nvPr>
        </p:nvSpPr>
        <p:spPr>
          <a:xfrm>
            <a:off x="597689" y="1475707"/>
            <a:ext cx="3766140" cy="4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solidFill>
                  <a:schemeClr val="lt1"/>
                </a:solidFill>
              </a:rPr>
              <a:t> Stratégie de Test 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04" name="Google Shape;104;p17"/>
          <p:cNvSpPr txBox="1">
            <a:spLocks noGrp="1"/>
          </p:cNvSpPr>
          <p:nvPr>
            <p:ph type="body" idx="4294967295"/>
          </p:nvPr>
        </p:nvSpPr>
        <p:spPr>
          <a:xfrm>
            <a:off x="669995" y="1973708"/>
            <a:ext cx="3975300" cy="256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 dirty="0"/>
          </a:p>
          <a:p>
            <a:pPr marL="457200" lvl="0" indent="-342900" algn="l" rtl="0">
              <a:spcBef>
                <a:spcPts val="800"/>
              </a:spcBef>
              <a:spcAft>
                <a:spcPts val="0"/>
              </a:spcAft>
              <a:buSzPts val="1800"/>
              <a:buChar char="➢"/>
            </a:pPr>
            <a:r>
              <a:rPr lang="fr-FR" sz="1400" dirty="0"/>
              <a:t>Suite de tests automatisée </a:t>
            </a:r>
            <a:r>
              <a:rPr lang="fr-FR" sz="1400" b="1" dirty="0"/>
              <a:t>:</a:t>
            </a:r>
            <a:r>
              <a:rPr lang="fr-FR" sz="1400" dirty="0"/>
              <a:t> 31 tests couvrant l'ensemble de la chaîne de traitement (Fiabilisation, API, Sécurité &amp; Indicateurs</a:t>
            </a:r>
          </a:p>
          <a:p>
            <a:pPr marL="457200" lvl="0" indent="-342900" algn="l" rtl="0">
              <a:spcBef>
                <a:spcPts val="800"/>
              </a:spcBef>
              <a:spcAft>
                <a:spcPts val="0"/>
              </a:spcAft>
              <a:buSzPts val="1800"/>
              <a:buChar char="➢"/>
            </a:pPr>
            <a:r>
              <a:rPr lang="fr-FR" sz="1400" dirty="0"/>
              <a:t>Exécution rapide (31 PASSED)</a:t>
            </a:r>
          </a:p>
          <a:p>
            <a:pPr marL="114300" lvl="0" indent="0" algn="l" rtl="0">
              <a:spcBef>
                <a:spcPts val="8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grpSp>
        <p:nvGrpSpPr>
          <p:cNvPr id="105" name="Google Shape;105;p17"/>
          <p:cNvGrpSpPr/>
          <p:nvPr/>
        </p:nvGrpSpPr>
        <p:grpSpPr>
          <a:xfrm>
            <a:off x="4571882" y="1493858"/>
            <a:ext cx="4085977" cy="3086700"/>
            <a:chOff x="3230400" y="1568589"/>
            <a:chExt cx="2683200" cy="3086700"/>
          </a:xfrm>
        </p:grpSpPr>
        <p:sp>
          <p:nvSpPr>
            <p:cNvPr id="106" name="Google Shape;106;p17"/>
            <p:cNvSpPr/>
            <p:nvPr/>
          </p:nvSpPr>
          <p:spPr>
            <a:xfrm>
              <a:off x="3230400" y="1568589"/>
              <a:ext cx="2683200" cy="30867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7"/>
            <p:cNvSpPr txBox="1"/>
            <p:nvPr/>
          </p:nvSpPr>
          <p:spPr>
            <a:xfrm>
              <a:off x="3230400" y="1568600"/>
              <a:ext cx="2683200" cy="411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8" name="Google Shape;108;p17"/>
          <p:cNvSpPr txBox="1">
            <a:spLocks noGrp="1"/>
          </p:cNvSpPr>
          <p:nvPr>
            <p:ph type="body" idx="4294967295"/>
          </p:nvPr>
        </p:nvSpPr>
        <p:spPr>
          <a:xfrm>
            <a:off x="4552835" y="1488133"/>
            <a:ext cx="3389381" cy="4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solidFill>
                  <a:schemeClr val="lt1"/>
                </a:solidFill>
              </a:rPr>
              <a:t> Détail des couvertures 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09" name="Google Shape;109;p17"/>
          <p:cNvSpPr txBox="1">
            <a:spLocks noGrp="1"/>
          </p:cNvSpPr>
          <p:nvPr>
            <p:ph type="body" idx="4294967295"/>
          </p:nvPr>
        </p:nvSpPr>
        <p:spPr>
          <a:xfrm>
            <a:off x="4695994" y="1807525"/>
            <a:ext cx="3769200" cy="256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spcBef>
                <a:spcPts val="800"/>
              </a:spcBef>
              <a:spcAft>
                <a:spcPts val="0"/>
              </a:spcAft>
              <a:buSzPts val="1300"/>
              <a:buChar char="➢"/>
            </a:pPr>
            <a:r>
              <a:rPr lang="fr-FR" sz="1000" dirty="0"/>
              <a:t>Tests Unitaires (23 tests)</a:t>
            </a:r>
          </a:p>
          <a:p>
            <a:pPr lvl="1" indent="-311150">
              <a:spcBef>
                <a:spcPts val="800"/>
              </a:spcBef>
              <a:buSzPts val="1300"/>
              <a:buChar char="➢"/>
            </a:pPr>
            <a:r>
              <a:rPr lang="fr-FR" sz="1000" i="1" dirty="0"/>
              <a:t>Règles de Gestion &amp; ETL (19 tests)</a:t>
            </a:r>
            <a:r>
              <a:rPr lang="fr-FR" sz="1000" dirty="0"/>
              <a:t> : validation de la propreté des dates, gestion des valeurs nulles/négatives, détection des doublons et validation des statuts d'incidents</a:t>
            </a:r>
          </a:p>
          <a:p>
            <a:pPr lvl="1" indent="-311150">
              <a:spcBef>
                <a:spcPts val="800"/>
              </a:spcBef>
              <a:buSzPts val="1300"/>
              <a:buChar char="➢"/>
            </a:pPr>
            <a:r>
              <a:rPr lang="fr-FR" sz="1000" i="1" dirty="0"/>
              <a:t>Métriques &amp; Indicateurs (4 tests)</a:t>
            </a:r>
            <a:r>
              <a:rPr lang="fr-FR" sz="1000" dirty="0"/>
              <a:t> : vérification des agrégations métier</a:t>
            </a:r>
          </a:p>
          <a:p>
            <a:pPr marL="457200" lvl="0" indent="-311150" algn="l" rtl="0">
              <a:spcBef>
                <a:spcPts val="800"/>
              </a:spcBef>
              <a:spcAft>
                <a:spcPts val="0"/>
              </a:spcAft>
              <a:buSzPts val="1300"/>
              <a:buChar char="➢"/>
            </a:pPr>
            <a:r>
              <a:rPr lang="fr-FR" sz="1000" dirty="0"/>
              <a:t>Tests d'Intégration API &amp; RBAC (8 tests)</a:t>
            </a:r>
          </a:p>
          <a:p>
            <a:pPr lvl="1" indent="-311150">
              <a:spcBef>
                <a:spcPts val="800"/>
              </a:spcBef>
              <a:buSzPts val="1300"/>
              <a:buChar char="➢"/>
            </a:pPr>
            <a:r>
              <a:rPr lang="fr-FR" sz="1000" i="1" dirty="0"/>
              <a:t>Authentification JWT</a:t>
            </a:r>
            <a:r>
              <a:rPr lang="fr-FR" sz="1000" dirty="0"/>
              <a:t> : réponses HTTP conformes</a:t>
            </a:r>
          </a:p>
          <a:p>
            <a:pPr lvl="1" indent="-311150">
              <a:spcBef>
                <a:spcPts val="800"/>
              </a:spcBef>
              <a:buSzPts val="1300"/>
              <a:buChar char="➢"/>
            </a:pPr>
            <a:r>
              <a:rPr lang="fr-FR" sz="1000" i="1" dirty="0"/>
              <a:t>Matrice des Droits (RBAC)</a:t>
            </a:r>
            <a:r>
              <a:rPr lang="fr-FR" sz="1000" dirty="0"/>
              <a:t> : vérification stricte du rôle lors de la modification des incidents</a:t>
            </a:r>
          </a:p>
        </p:txBody>
      </p:sp>
    </p:spTree>
    <p:extLst>
      <p:ext uri="{BB962C8B-B14F-4D97-AF65-F5344CB8AC3E}">
        <p14:creationId xmlns:p14="http://schemas.microsoft.com/office/powerpoint/2010/main" val="3666135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>
            <a:spLocks noGrp="1"/>
          </p:cNvSpPr>
          <p:nvPr>
            <p:ph type="title"/>
          </p:nvPr>
        </p:nvSpPr>
        <p:spPr>
          <a:xfrm>
            <a:off x="232825" y="315925"/>
            <a:ext cx="86784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Démarche Recettes &amp; Gestion des anomalies </a:t>
            </a:r>
            <a:endParaRPr dirty="0"/>
          </a:p>
        </p:txBody>
      </p:sp>
      <p:cxnSp>
        <p:nvCxnSpPr>
          <p:cNvPr id="122" name="Google Shape;122;p19"/>
          <p:cNvCxnSpPr/>
          <p:nvPr/>
        </p:nvCxnSpPr>
        <p:spPr>
          <a:xfrm>
            <a:off x="4364550" y="1242375"/>
            <a:ext cx="414900" cy="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123" name="Google Shape;123;p19"/>
          <p:cNvGraphicFramePr/>
          <p:nvPr>
            <p:extLst>
              <p:ext uri="{D42A27DB-BD31-4B8C-83A1-F6EECF244321}">
                <p14:modId xmlns:p14="http://schemas.microsoft.com/office/powerpoint/2010/main" val="1349376908"/>
              </p:ext>
            </p:extLst>
          </p:nvPr>
        </p:nvGraphicFramePr>
        <p:xfrm>
          <a:off x="784239" y="1050099"/>
          <a:ext cx="7239000" cy="4108899"/>
        </p:xfrm>
        <a:graphic>
          <a:graphicData uri="http://schemas.openxmlformats.org/drawingml/2006/table">
            <a:tbl>
              <a:tblPr>
                <a:noFill/>
                <a:tableStyleId>{18FC05F9-308C-4487-A63D-05D02363F970}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3396593254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94733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Campagne de recette 15/10/2026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800" b="0" i="0" u="none" strike="noStrike" cap="none" spc="0" dirty="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Anomalies et Traçabilité </a:t>
                      </a:r>
                      <a:endParaRPr lang="fr-FR" sz="1800" b="0" i="0" u="none" strike="noStrike" cap="none" spc="0" dirty="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Arial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Décision du procès-Verbal</a:t>
                      </a:r>
                      <a:endParaRPr lang="fr-FR" sz="18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1913">
                <a:tc>
                  <a:txBody>
                    <a:bodyPr/>
                    <a:lstStyle/>
                    <a:p>
                      <a:pPr marL="457200" marR="0" lvl="0" indent="-34290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Open Sans"/>
                        <a:buChar char="➢"/>
                      </a:pPr>
                      <a:r>
                        <a:rPr lang="fr-FR" sz="1400" b="0" i="0" u="none" strike="noStrike" cap="none" spc="0" dirty="0">
                          <a:solidFill>
                            <a:srgbClr val="334155"/>
                          </a:solidFill>
                          <a:effectLst/>
                          <a:latin typeface="Plus Jakarta Sans"/>
                          <a:ea typeface="Open Sans"/>
                          <a:cs typeface="Open Sans"/>
                          <a:sym typeface="Arial"/>
                        </a:rPr>
                        <a:t>10 cas de tests fonctionnels joués sur une BDD réinitialisées</a:t>
                      </a:r>
                    </a:p>
                    <a:p>
                      <a:pPr marL="457200" marR="0" lvl="0" indent="-34290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Open Sans"/>
                        <a:buChar char="➢"/>
                      </a:pPr>
                      <a:r>
                        <a:rPr lang="fr-FR" sz="1400" b="0" i="0" u="none" strike="noStrike" cap="none" spc="0" dirty="0">
                          <a:solidFill>
                            <a:srgbClr val="334155"/>
                          </a:solidFill>
                          <a:effectLst/>
                          <a:latin typeface="Plus Jakarta Sans"/>
                          <a:ea typeface="Open Sans"/>
                          <a:cs typeface="Open Sans"/>
                          <a:sym typeface="Arial"/>
                        </a:rPr>
                        <a:t>Couverture : Ingestion ETL idempotente, sécurité JWT, contrôle d’accès, pagination</a:t>
                      </a:r>
                      <a:endParaRPr sz="1400" b="0" i="0" u="none" strike="noStrike" cap="none" spc="0" dirty="0">
                        <a:solidFill>
                          <a:srgbClr val="334155"/>
                        </a:solidFill>
                        <a:effectLst/>
                        <a:latin typeface="Plus Jakarta Sans"/>
                        <a:ea typeface="Open Sans"/>
                        <a:cs typeface="Open Sans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lvl="0" indent="-34290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Open Sans"/>
                        <a:buChar char="➢"/>
                      </a:pPr>
                      <a:r>
                        <a:rPr lang="fr-FR" sz="1400" b="0" i="0" u="none" strike="noStrike" cap="none" spc="0" dirty="0">
                          <a:solidFill>
                            <a:srgbClr val="334155"/>
                          </a:solidFill>
                          <a:effectLst/>
                          <a:latin typeface="Plus Jakarta Sans"/>
                          <a:ea typeface="Open Sans"/>
                          <a:cs typeface="Open Sans"/>
                          <a:sym typeface="Arial"/>
                        </a:rPr>
                        <a:t>4 anomalies relevées lors de l’exécution initiale </a:t>
                      </a:r>
                    </a:p>
                    <a:p>
                      <a:pPr marL="457200" marR="0" lvl="0" indent="-34290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Open Sans"/>
                        <a:buChar char="➢"/>
                      </a:pPr>
                      <a:r>
                        <a:rPr lang="fr-FR" sz="1400" b="0" i="0" u="none" strike="noStrike" cap="none" spc="0" dirty="0">
                          <a:solidFill>
                            <a:srgbClr val="334155"/>
                          </a:solidFill>
                          <a:effectLst/>
                          <a:latin typeface="Plus Jakarta Sans"/>
                          <a:ea typeface="Open Sans"/>
                          <a:cs typeface="Open Sans"/>
                          <a:sym typeface="Arial"/>
                        </a:rPr>
                        <a:t>2 anomalies critiques corrigées avec </a:t>
                      </a:r>
                      <a:r>
                        <a:rPr lang="fr-FR" sz="1400" b="0" i="0" u="none" strike="noStrike" cap="none" spc="0" dirty="0" err="1">
                          <a:solidFill>
                            <a:srgbClr val="334155"/>
                          </a:solidFill>
                          <a:effectLst/>
                          <a:latin typeface="Plus Jakarta Sans"/>
                          <a:ea typeface="Open Sans"/>
                          <a:cs typeface="Open Sans"/>
                          <a:sym typeface="Arial"/>
                        </a:rPr>
                        <a:t>commits</a:t>
                      </a:r>
                      <a:r>
                        <a:rPr lang="fr-FR" sz="1400" b="0" i="0" u="none" strike="noStrike" cap="none" spc="0" dirty="0">
                          <a:solidFill>
                            <a:srgbClr val="334155"/>
                          </a:solidFill>
                          <a:effectLst/>
                          <a:latin typeface="Plus Jakarta Sans"/>
                          <a:ea typeface="Open Sans"/>
                          <a:cs typeface="Open Sans"/>
                          <a:sym typeface="Arial"/>
                        </a:rPr>
                        <a:t> dédiées et des tests de non-</a:t>
                      </a:r>
                      <a:r>
                        <a:rPr lang="fr-FR" sz="1400" b="0" i="0" u="none" strike="noStrike" cap="none" spc="0" dirty="0" err="1">
                          <a:solidFill>
                            <a:srgbClr val="334155"/>
                          </a:solidFill>
                          <a:effectLst/>
                          <a:latin typeface="Plus Jakarta Sans"/>
                          <a:ea typeface="Open Sans"/>
                          <a:cs typeface="Open Sans"/>
                          <a:sym typeface="Arial"/>
                        </a:rPr>
                        <a:t>regression</a:t>
                      </a:r>
                      <a:r>
                        <a:rPr lang="fr-FR" sz="1400" b="0" i="0" u="none" strike="noStrike" cap="none" spc="0" dirty="0">
                          <a:solidFill>
                            <a:srgbClr val="334155"/>
                          </a:solidFill>
                          <a:effectLst/>
                          <a:latin typeface="Plus Jakarta Sans"/>
                          <a:ea typeface="Open Sans"/>
                          <a:cs typeface="Open Sans"/>
                          <a:sym typeface="Arial"/>
                        </a:rPr>
                        <a:t> (anomalies 1 &amp; 2)</a:t>
                      </a:r>
                    </a:p>
                    <a:p>
                      <a:pPr marL="457200" marR="0" lvl="0" indent="-34290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Open Sans"/>
                        <a:buChar char="➢"/>
                      </a:pPr>
                      <a:r>
                        <a:rPr lang="fr-FR" sz="1400" b="0" i="0" u="none" strike="noStrike" cap="none" spc="0" dirty="0">
                          <a:solidFill>
                            <a:srgbClr val="334155"/>
                          </a:solidFill>
                          <a:effectLst/>
                          <a:latin typeface="Plus Jakarta Sans"/>
                          <a:ea typeface="Open Sans"/>
                          <a:cs typeface="Open Sans"/>
                          <a:sym typeface="Arial"/>
                        </a:rPr>
                        <a:t>2 réserves mineurs reportées (anomalies 3 &amp; 4)</a:t>
                      </a: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lvl="0" indent="-34290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Open Sans"/>
                        <a:buChar char="➢"/>
                      </a:pPr>
                      <a:r>
                        <a:rPr lang="fr-FR" sz="1400" b="0" i="0" u="none" strike="noStrike" cap="none" spc="0" dirty="0">
                          <a:solidFill>
                            <a:srgbClr val="334155"/>
                          </a:solidFill>
                          <a:effectLst/>
                          <a:latin typeface="Plus Jakarta Sans"/>
                          <a:ea typeface="Open Sans"/>
                          <a:cs typeface="Open Sans"/>
                          <a:sym typeface="Arial"/>
                        </a:rPr>
                        <a:t>Recette PRONONC2E AVEC RESERVES: L’application est conforme aux exigences métiers et fonctionnelles du </a:t>
                      </a:r>
                      <a:r>
                        <a:rPr lang="fr-FR" sz="1400" b="0" i="0" u="none" strike="noStrike" cap="none" spc="0" dirty="0" err="1">
                          <a:solidFill>
                            <a:srgbClr val="334155"/>
                          </a:solidFill>
                          <a:effectLst/>
                          <a:latin typeface="Plus Jakarta Sans"/>
                          <a:ea typeface="Open Sans"/>
                          <a:cs typeface="Open Sans"/>
                          <a:sym typeface="Arial"/>
                        </a:rPr>
                        <a:t>CdC</a:t>
                      </a:r>
                      <a:endParaRPr sz="1400" b="0" i="0" u="none" strike="noStrike" cap="none" spc="0" dirty="0">
                        <a:solidFill>
                          <a:srgbClr val="334155"/>
                        </a:solidFill>
                        <a:effectLst/>
                        <a:latin typeface="Plus Jakarta Sans"/>
                        <a:ea typeface="Open Sans"/>
                        <a:cs typeface="Open Sans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>
            <a:spLocks noGrp="1"/>
          </p:cNvSpPr>
          <p:nvPr>
            <p:ph type="title"/>
          </p:nvPr>
        </p:nvSpPr>
        <p:spPr>
          <a:xfrm>
            <a:off x="232825" y="315925"/>
            <a:ext cx="86784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Choix Ecoresponsables &amp; </a:t>
            </a:r>
            <a:r>
              <a:rPr lang="fr-FR" dirty="0" err="1"/>
              <a:t>Versionning</a:t>
            </a:r>
            <a:r>
              <a:rPr lang="fr-FR" dirty="0"/>
              <a:t> </a:t>
            </a:r>
            <a:endParaRPr dirty="0"/>
          </a:p>
        </p:txBody>
      </p:sp>
      <p:cxnSp>
        <p:nvCxnSpPr>
          <p:cNvPr id="99" name="Google Shape;99;p17"/>
          <p:cNvCxnSpPr/>
          <p:nvPr/>
        </p:nvCxnSpPr>
        <p:spPr>
          <a:xfrm>
            <a:off x="4364550" y="1242375"/>
            <a:ext cx="414900" cy="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00" name="Google Shape;100;p17"/>
          <p:cNvGrpSpPr/>
          <p:nvPr/>
        </p:nvGrpSpPr>
        <p:grpSpPr>
          <a:xfrm>
            <a:off x="631477" y="1611425"/>
            <a:ext cx="3769298" cy="3086700"/>
            <a:chOff x="437825" y="1568589"/>
            <a:chExt cx="2685450" cy="3086700"/>
          </a:xfrm>
        </p:grpSpPr>
        <p:sp>
          <p:nvSpPr>
            <p:cNvPr id="101" name="Google Shape;101;p17"/>
            <p:cNvSpPr/>
            <p:nvPr/>
          </p:nvSpPr>
          <p:spPr>
            <a:xfrm>
              <a:off x="440075" y="1568589"/>
              <a:ext cx="2683200" cy="30867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7"/>
            <p:cNvSpPr txBox="1"/>
            <p:nvPr/>
          </p:nvSpPr>
          <p:spPr>
            <a:xfrm>
              <a:off x="437825" y="1568589"/>
              <a:ext cx="2683200" cy="411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7"/>
          <p:cNvSpPr txBox="1">
            <a:spLocks noGrp="1"/>
          </p:cNvSpPr>
          <p:nvPr>
            <p:ph type="body" idx="4294967295"/>
          </p:nvPr>
        </p:nvSpPr>
        <p:spPr>
          <a:xfrm>
            <a:off x="597689" y="1593274"/>
            <a:ext cx="3766140" cy="4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solidFill>
                  <a:schemeClr val="lt1"/>
                </a:solidFill>
              </a:rPr>
              <a:t> Sobriété Numérique 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04" name="Google Shape;104;p17"/>
          <p:cNvSpPr txBox="1">
            <a:spLocks noGrp="1"/>
          </p:cNvSpPr>
          <p:nvPr>
            <p:ph type="body" idx="4294967295"/>
          </p:nvPr>
        </p:nvSpPr>
        <p:spPr>
          <a:xfrm>
            <a:off x="669995" y="2091275"/>
            <a:ext cx="3975300" cy="256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800"/>
              </a:spcBef>
              <a:spcAft>
                <a:spcPts val="0"/>
              </a:spcAft>
              <a:buSzPts val="1800"/>
              <a:buChar char="➢"/>
            </a:pPr>
            <a:r>
              <a:rPr lang="fr-FR" sz="1400" b="0" i="0" dirty="0">
                <a:solidFill>
                  <a:srgbClr val="334155"/>
                </a:solidFill>
                <a:effectLst/>
                <a:latin typeface="Plus Jakarta Sans"/>
              </a:rPr>
              <a:t> Pagination côté API pour limiter les transferts réseau inutiles.</a:t>
            </a:r>
          </a:p>
          <a:p>
            <a:pPr marL="457200" lvl="0" indent="-342900" algn="l" rtl="0">
              <a:spcBef>
                <a:spcPts val="800"/>
              </a:spcBef>
              <a:spcAft>
                <a:spcPts val="0"/>
              </a:spcAft>
              <a:buSzPts val="1800"/>
              <a:buChar char="➢"/>
            </a:pPr>
            <a:r>
              <a:rPr lang="fr-FR" sz="1400" b="0" i="0" dirty="0">
                <a:solidFill>
                  <a:srgbClr val="334155"/>
                </a:solidFill>
                <a:effectLst/>
                <a:latin typeface="Plus Jakarta Sans"/>
              </a:rPr>
              <a:t> Requêtes SQL ciblées évitant les surcharges mémoire.</a:t>
            </a:r>
          </a:p>
          <a:p>
            <a:pPr marL="457200" lvl="0" indent="-342900" algn="l" rtl="0">
              <a:spcBef>
                <a:spcPts val="800"/>
              </a:spcBef>
              <a:spcAft>
                <a:spcPts val="0"/>
              </a:spcAft>
              <a:buSzPts val="1800"/>
              <a:buChar char="➢"/>
            </a:pPr>
            <a:r>
              <a:rPr lang="fr-FR" sz="1400" dirty="0">
                <a:solidFill>
                  <a:srgbClr val="334155"/>
                </a:solidFill>
                <a:latin typeface="Plus Jakarta Sans"/>
              </a:rPr>
              <a:t>Pas de rafraîchissement temps réel : Chargement à la demande</a:t>
            </a:r>
          </a:p>
          <a:p>
            <a:pPr marL="457200" lvl="0" indent="-342900" algn="l" rtl="0">
              <a:spcBef>
                <a:spcPts val="800"/>
              </a:spcBef>
              <a:spcAft>
                <a:spcPts val="0"/>
              </a:spcAft>
              <a:buSzPts val="1800"/>
              <a:buChar char="➢"/>
            </a:pPr>
            <a:r>
              <a:rPr lang="fr-FR" sz="1400" b="0" i="0" dirty="0">
                <a:solidFill>
                  <a:srgbClr val="334155"/>
                </a:solidFill>
                <a:effectLst/>
                <a:latin typeface="Plus Jakarta Sans"/>
              </a:rPr>
              <a:t>Application </a:t>
            </a:r>
            <a:r>
              <a:rPr lang="fr-FR" sz="1400" b="0" i="0" dirty="0" err="1">
                <a:solidFill>
                  <a:srgbClr val="334155"/>
                </a:solidFill>
                <a:effectLst/>
                <a:latin typeface="Plus Jakarta Sans"/>
              </a:rPr>
              <a:t>Streamlit</a:t>
            </a:r>
            <a:r>
              <a:rPr lang="fr-FR" sz="1400" b="0" i="0" dirty="0">
                <a:solidFill>
                  <a:srgbClr val="334155"/>
                </a:solidFill>
                <a:effectLst/>
                <a:latin typeface="Plus Jakarta Sans"/>
              </a:rPr>
              <a:t> légère sans composants lourds superfétatoires.</a:t>
            </a:r>
            <a:endParaRPr dirty="0"/>
          </a:p>
        </p:txBody>
      </p:sp>
      <p:grpSp>
        <p:nvGrpSpPr>
          <p:cNvPr id="105" name="Google Shape;105;p17"/>
          <p:cNvGrpSpPr/>
          <p:nvPr/>
        </p:nvGrpSpPr>
        <p:grpSpPr>
          <a:xfrm>
            <a:off x="4571882" y="1611425"/>
            <a:ext cx="4085977" cy="3086700"/>
            <a:chOff x="3230400" y="1568589"/>
            <a:chExt cx="2683200" cy="3086700"/>
          </a:xfrm>
        </p:grpSpPr>
        <p:sp>
          <p:nvSpPr>
            <p:cNvPr id="106" name="Google Shape;106;p17"/>
            <p:cNvSpPr/>
            <p:nvPr/>
          </p:nvSpPr>
          <p:spPr>
            <a:xfrm>
              <a:off x="3230400" y="1568589"/>
              <a:ext cx="2683200" cy="30867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7"/>
            <p:cNvSpPr txBox="1"/>
            <p:nvPr/>
          </p:nvSpPr>
          <p:spPr>
            <a:xfrm>
              <a:off x="3230400" y="1568600"/>
              <a:ext cx="2683200" cy="411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8" name="Google Shape;108;p17"/>
          <p:cNvSpPr txBox="1">
            <a:spLocks noGrp="1"/>
          </p:cNvSpPr>
          <p:nvPr>
            <p:ph type="body" idx="4294967295"/>
          </p:nvPr>
        </p:nvSpPr>
        <p:spPr>
          <a:xfrm>
            <a:off x="4552835" y="1605700"/>
            <a:ext cx="3389381" cy="4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solidFill>
                  <a:schemeClr val="lt1"/>
                </a:solidFill>
              </a:rPr>
              <a:t> Traçabilité Git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09" name="Google Shape;109;p17"/>
          <p:cNvSpPr txBox="1">
            <a:spLocks noGrp="1"/>
          </p:cNvSpPr>
          <p:nvPr>
            <p:ph type="body" idx="4294967295"/>
          </p:nvPr>
        </p:nvSpPr>
        <p:spPr>
          <a:xfrm>
            <a:off x="4826624" y="2134100"/>
            <a:ext cx="3769200" cy="256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 dirty="0"/>
          </a:p>
          <a:p>
            <a:pPr marL="457200" lvl="0" indent="-311150" algn="l" rtl="0">
              <a:spcBef>
                <a:spcPts val="800"/>
              </a:spcBef>
              <a:spcAft>
                <a:spcPts val="0"/>
              </a:spcAft>
              <a:buSzPts val="1300"/>
              <a:buChar char="➢"/>
            </a:pPr>
            <a:r>
              <a:rPr lang="fr-FR" sz="1400" b="0" i="0" dirty="0" err="1">
                <a:solidFill>
                  <a:srgbClr val="334155"/>
                </a:solidFill>
                <a:effectLst/>
                <a:latin typeface="Plus Jakarta Sans"/>
              </a:rPr>
              <a:t>Commits</a:t>
            </a:r>
            <a:r>
              <a:rPr lang="fr-FR" sz="1400" b="0" i="0" dirty="0">
                <a:solidFill>
                  <a:srgbClr val="334155"/>
                </a:solidFill>
                <a:effectLst/>
                <a:latin typeface="Plus Jakarta Sans"/>
              </a:rPr>
              <a:t> atomiques structurés par briques fonctionnelles.</a:t>
            </a:r>
          </a:p>
          <a:p>
            <a:pPr marL="457200" lvl="0" indent="-311150" algn="l" rtl="0">
              <a:spcBef>
                <a:spcPts val="800"/>
              </a:spcBef>
              <a:spcAft>
                <a:spcPts val="0"/>
              </a:spcAft>
              <a:buSzPts val="1300"/>
              <a:buChar char="➢"/>
            </a:pPr>
            <a:r>
              <a:rPr lang="fr-FR" sz="1400" b="0" i="0" dirty="0">
                <a:solidFill>
                  <a:srgbClr val="334155"/>
                </a:solidFill>
                <a:effectLst/>
                <a:latin typeface="Plus Jakarta Sans"/>
              </a:rPr>
              <a:t>Tag de livraison officiel : </a:t>
            </a:r>
            <a:r>
              <a:rPr lang="fr-FR" sz="1400" b="1" i="0" dirty="0">
                <a:solidFill>
                  <a:srgbClr val="334155"/>
                </a:solidFill>
                <a:effectLst/>
                <a:latin typeface="Plus Jakarta Sans"/>
              </a:rPr>
              <a:t>v1.0.0-rc1</a:t>
            </a:r>
          </a:p>
          <a:p>
            <a:pPr marL="457200" lvl="0" indent="-311150" algn="l" rtl="0">
              <a:spcBef>
                <a:spcPts val="800"/>
              </a:spcBef>
              <a:spcAft>
                <a:spcPts val="0"/>
              </a:spcAft>
              <a:buSzPts val="1300"/>
              <a:buChar char="➢"/>
            </a:pPr>
            <a:r>
              <a:rPr lang="fr-FR" sz="1400" b="0" i="0" dirty="0">
                <a:solidFill>
                  <a:srgbClr val="334155"/>
                </a:solidFill>
                <a:effectLst/>
                <a:latin typeface="Plus Jakarta Sans"/>
              </a:rPr>
              <a:t>Hash de commit référencé : </a:t>
            </a:r>
            <a:r>
              <a:rPr lang="fr-FR" sz="1400" b="1" i="0" dirty="0">
                <a:solidFill>
                  <a:srgbClr val="334155"/>
                </a:solidFill>
                <a:effectLst/>
                <a:latin typeface="Plus Jakarta Sans"/>
              </a:rPr>
              <a:t>e73320c</a:t>
            </a:r>
            <a:endParaRPr lang="fr-FR" sz="1300" dirty="0"/>
          </a:p>
        </p:txBody>
      </p:sp>
    </p:spTree>
    <p:extLst>
      <p:ext uri="{BB962C8B-B14F-4D97-AF65-F5344CB8AC3E}">
        <p14:creationId xmlns:p14="http://schemas.microsoft.com/office/powerpoint/2010/main" val="3915490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>
            <a:spLocks noGrp="1"/>
          </p:cNvSpPr>
          <p:nvPr>
            <p:ph type="title"/>
          </p:nvPr>
        </p:nvSpPr>
        <p:spPr>
          <a:xfrm>
            <a:off x="232825" y="315925"/>
            <a:ext cx="86784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Bilan &amp; Perspectives </a:t>
            </a:r>
            <a:endParaRPr dirty="0"/>
          </a:p>
        </p:txBody>
      </p:sp>
      <p:cxnSp>
        <p:nvCxnSpPr>
          <p:cNvPr id="99" name="Google Shape;99;p17"/>
          <p:cNvCxnSpPr/>
          <p:nvPr/>
        </p:nvCxnSpPr>
        <p:spPr>
          <a:xfrm>
            <a:off x="4364550" y="1242375"/>
            <a:ext cx="414900" cy="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00" name="Google Shape;100;p17"/>
          <p:cNvGrpSpPr/>
          <p:nvPr/>
        </p:nvGrpSpPr>
        <p:grpSpPr>
          <a:xfrm>
            <a:off x="631477" y="1611425"/>
            <a:ext cx="3769298" cy="3086700"/>
            <a:chOff x="437825" y="1568589"/>
            <a:chExt cx="2685450" cy="3086700"/>
          </a:xfrm>
        </p:grpSpPr>
        <p:sp>
          <p:nvSpPr>
            <p:cNvPr id="101" name="Google Shape;101;p17"/>
            <p:cNvSpPr/>
            <p:nvPr/>
          </p:nvSpPr>
          <p:spPr>
            <a:xfrm>
              <a:off x="440075" y="1568589"/>
              <a:ext cx="2683200" cy="30867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7"/>
            <p:cNvSpPr txBox="1"/>
            <p:nvPr/>
          </p:nvSpPr>
          <p:spPr>
            <a:xfrm>
              <a:off x="437825" y="1568589"/>
              <a:ext cx="2683200" cy="411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7"/>
          <p:cNvSpPr txBox="1">
            <a:spLocks noGrp="1"/>
          </p:cNvSpPr>
          <p:nvPr>
            <p:ph type="body" idx="4294967295"/>
          </p:nvPr>
        </p:nvSpPr>
        <p:spPr>
          <a:xfrm>
            <a:off x="597689" y="1593274"/>
            <a:ext cx="3766140" cy="4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solidFill>
                  <a:schemeClr val="lt1"/>
                </a:solidFill>
              </a:rPr>
              <a:t> Objectifs atteints &amp; limites  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04" name="Google Shape;104;p17"/>
          <p:cNvSpPr txBox="1">
            <a:spLocks noGrp="1"/>
          </p:cNvSpPr>
          <p:nvPr>
            <p:ph type="body" idx="4294967295"/>
          </p:nvPr>
        </p:nvSpPr>
        <p:spPr>
          <a:xfrm>
            <a:off x="669995" y="2091275"/>
            <a:ext cx="3975300" cy="256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 dirty="0"/>
          </a:p>
          <a:p>
            <a:pPr marL="457200" lvl="0" indent="-342900" algn="l" rtl="0">
              <a:spcBef>
                <a:spcPts val="800"/>
              </a:spcBef>
              <a:spcAft>
                <a:spcPts val="0"/>
              </a:spcAft>
              <a:buSzPts val="1800"/>
              <a:buChar char="➢"/>
            </a:pPr>
            <a:r>
              <a:rPr lang="fr-FR" sz="1400" dirty="0">
                <a:solidFill>
                  <a:srgbClr val="334155"/>
                </a:solidFill>
                <a:latin typeface="Plus Jakarta Sans"/>
              </a:rPr>
              <a:t> API fonctionnelle, fiabilisation à 100%, interface </a:t>
            </a:r>
            <a:r>
              <a:rPr lang="fr-FR" sz="1400" dirty="0" err="1">
                <a:solidFill>
                  <a:srgbClr val="334155"/>
                </a:solidFill>
                <a:latin typeface="Plus Jakarta Sans"/>
              </a:rPr>
              <a:t>Streamlit</a:t>
            </a:r>
            <a:r>
              <a:rPr lang="fr-FR" sz="1400" dirty="0">
                <a:solidFill>
                  <a:srgbClr val="334155"/>
                </a:solidFill>
                <a:latin typeface="Plus Jakarta Sans"/>
              </a:rPr>
              <a:t> fluide et sécurisée</a:t>
            </a:r>
          </a:p>
          <a:p>
            <a:pPr lvl="1" indent="-342900">
              <a:spcBef>
                <a:spcPts val="800"/>
              </a:spcBef>
              <a:buSzPts val="1800"/>
              <a:buChar char="➢"/>
            </a:pPr>
            <a:r>
              <a:rPr lang="fr-FR" sz="1000" dirty="0">
                <a:solidFill>
                  <a:srgbClr val="334155"/>
                </a:solidFill>
                <a:latin typeface="Plus Jakarta Sans"/>
              </a:rPr>
              <a:t>API documentée </a:t>
            </a:r>
          </a:p>
          <a:p>
            <a:pPr marL="457200" lvl="0" indent="-342900" algn="l" rtl="0">
              <a:spcBef>
                <a:spcPts val="800"/>
              </a:spcBef>
              <a:spcAft>
                <a:spcPts val="0"/>
              </a:spcAft>
              <a:buSzPts val="1800"/>
              <a:buChar char="➢"/>
            </a:pPr>
            <a:r>
              <a:rPr lang="fr-FR" sz="1400" dirty="0">
                <a:solidFill>
                  <a:srgbClr val="334155"/>
                </a:solidFill>
                <a:latin typeface="Plus Jakarta Sans"/>
              </a:rPr>
              <a:t>Limites </a:t>
            </a:r>
          </a:p>
          <a:p>
            <a:pPr lvl="1" indent="-342900">
              <a:spcBef>
                <a:spcPts val="800"/>
              </a:spcBef>
              <a:buSzPts val="1800"/>
              <a:buChar char="➢"/>
            </a:pPr>
            <a:r>
              <a:rPr lang="fr-FR" sz="1000" dirty="0">
                <a:solidFill>
                  <a:srgbClr val="334155"/>
                </a:solidFill>
                <a:latin typeface="Plus Jakarta Sans"/>
              </a:rPr>
              <a:t>Gestion des utilisateurs statiques via script SQL</a:t>
            </a:r>
          </a:p>
          <a:p>
            <a:pPr lvl="1" indent="-342900">
              <a:spcBef>
                <a:spcPts val="800"/>
              </a:spcBef>
              <a:buSzPts val="1800"/>
              <a:buChar char="➢"/>
            </a:pPr>
            <a:r>
              <a:rPr lang="fr-FR" sz="1000" dirty="0">
                <a:solidFill>
                  <a:srgbClr val="334155"/>
                </a:solidFill>
                <a:latin typeface="Plus Jakarta Sans"/>
              </a:rPr>
              <a:t>Pas de représentation graphique </a:t>
            </a:r>
            <a:endParaRPr sz="1000" dirty="0">
              <a:solidFill>
                <a:srgbClr val="334155"/>
              </a:solidFill>
              <a:latin typeface="Plus Jakarta Sans"/>
            </a:endParaRPr>
          </a:p>
        </p:txBody>
      </p:sp>
      <p:grpSp>
        <p:nvGrpSpPr>
          <p:cNvPr id="105" name="Google Shape;105;p17"/>
          <p:cNvGrpSpPr/>
          <p:nvPr/>
        </p:nvGrpSpPr>
        <p:grpSpPr>
          <a:xfrm>
            <a:off x="4571882" y="1611425"/>
            <a:ext cx="4085977" cy="3086700"/>
            <a:chOff x="3230400" y="1568589"/>
            <a:chExt cx="2683200" cy="3086700"/>
          </a:xfrm>
        </p:grpSpPr>
        <p:sp>
          <p:nvSpPr>
            <p:cNvPr id="106" name="Google Shape;106;p17"/>
            <p:cNvSpPr/>
            <p:nvPr/>
          </p:nvSpPr>
          <p:spPr>
            <a:xfrm>
              <a:off x="3230400" y="1568589"/>
              <a:ext cx="2683200" cy="30867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7"/>
            <p:cNvSpPr txBox="1"/>
            <p:nvPr/>
          </p:nvSpPr>
          <p:spPr>
            <a:xfrm>
              <a:off x="3230400" y="1568600"/>
              <a:ext cx="2683200" cy="411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8" name="Google Shape;108;p17"/>
          <p:cNvSpPr txBox="1">
            <a:spLocks noGrp="1"/>
          </p:cNvSpPr>
          <p:nvPr>
            <p:ph type="body" idx="4294967295"/>
          </p:nvPr>
        </p:nvSpPr>
        <p:spPr>
          <a:xfrm>
            <a:off x="4552835" y="1605700"/>
            <a:ext cx="3389381" cy="4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solidFill>
                  <a:schemeClr val="lt1"/>
                </a:solidFill>
              </a:rPr>
              <a:t> Axes d’amélioration 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09" name="Google Shape;109;p17"/>
          <p:cNvSpPr txBox="1">
            <a:spLocks noGrp="1"/>
          </p:cNvSpPr>
          <p:nvPr>
            <p:ph type="body" idx="4294967295"/>
          </p:nvPr>
        </p:nvSpPr>
        <p:spPr>
          <a:xfrm>
            <a:off x="4826624" y="2134100"/>
            <a:ext cx="3769200" cy="256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 dirty="0"/>
          </a:p>
          <a:p>
            <a:pPr marL="457200" lvl="0" indent="-311150" algn="l" rtl="0">
              <a:spcBef>
                <a:spcPts val="800"/>
              </a:spcBef>
              <a:spcAft>
                <a:spcPts val="0"/>
              </a:spcAft>
              <a:buSzPts val="1300"/>
              <a:buChar char="➢"/>
            </a:pPr>
            <a:r>
              <a:rPr lang="fr-FR" sz="1400" dirty="0">
                <a:solidFill>
                  <a:srgbClr val="334155"/>
                </a:solidFill>
                <a:latin typeface="Plus Jakarta Sans"/>
              </a:rPr>
              <a:t>Module d’ingestion des données météo et modèles de prédictions de rééquilibrage de la flotte</a:t>
            </a:r>
          </a:p>
          <a:p>
            <a:pPr marL="457200" lvl="0" indent="-311150" algn="l" rtl="0">
              <a:spcBef>
                <a:spcPts val="800"/>
              </a:spcBef>
              <a:spcAft>
                <a:spcPts val="0"/>
              </a:spcAft>
              <a:buSzPts val="1300"/>
              <a:buChar char="➢"/>
            </a:pPr>
            <a:r>
              <a:rPr lang="fr-FR" sz="1400" dirty="0">
                <a:solidFill>
                  <a:srgbClr val="334155"/>
                </a:solidFill>
                <a:latin typeface="Plus Jakarta Sans"/>
              </a:rPr>
              <a:t>Interface de gestion automatiques des comptes et des rôles </a:t>
            </a:r>
          </a:p>
        </p:txBody>
      </p:sp>
    </p:spTree>
    <p:extLst>
      <p:ext uri="{BB962C8B-B14F-4D97-AF65-F5344CB8AC3E}">
        <p14:creationId xmlns:p14="http://schemas.microsoft.com/office/powerpoint/2010/main" val="3584684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9"/>
          <p:cNvSpPr txBox="1">
            <a:spLocks noGrp="1"/>
          </p:cNvSpPr>
          <p:nvPr>
            <p:ph type="title"/>
          </p:nvPr>
        </p:nvSpPr>
        <p:spPr>
          <a:xfrm>
            <a:off x="232825" y="315925"/>
            <a:ext cx="86784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/>
              <a:t>Conclusion</a:t>
            </a:r>
            <a:endParaRPr dirty="0"/>
          </a:p>
        </p:txBody>
      </p:sp>
      <p:cxnSp>
        <p:nvCxnSpPr>
          <p:cNvPr id="280" name="Google Shape;280;p39"/>
          <p:cNvCxnSpPr/>
          <p:nvPr/>
        </p:nvCxnSpPr>
        <p:spPr>
          <a:xfrm>
            <a:off x="4364550" y="1242375"/>
            <a:ext cx="414900" cy="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1" name="Google Shape;281;p39"/>
          <p:cNvSpPr txBox="1">
            <a:spLocks noGrp="1"/>
          </p:cNvSpPr>
          <p:nvPr>
            <p:ph type="body" idx="4294967295"/>
          </p:nvPr>
        </p:nvSpPr>
        <p:spPr>
          <a:xfrm>
            <a:off x="665249" y="902398"/>
            <a:ext cx="7273500" cy="256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 dirty="0"/>
          </a:p>
          <a:p>
            <a:pPr marL="45720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fr" dirty="0"/>
              <a:t>Nous proposons pour </a:t>
            </a:r>
            <a:r>
              <a:rPr lang="fr" b="1" dirty="0"/>
              <a:t>l’API VéloVille</a:t>
            </a:r>
            <a:r>
              <a:rPr lang="fr" dirty="0"/>
              <a:t> une conception</a:t>
            </a:r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➢"/>
            </a:pPr>
            <a:r>
              <a:rPr lang="fr" b="1" dirty="0"/>
              <a:t>S</a:t>
            </a:r>
            <a:r>
              <a:rPr lang="fr-FR" b="1" dirty="0" err="1"/>
              <a:t>tandard</a:t>
            </a:r>
            <a:r>
              <a:rPr lang="fr-FR" b="1" dirty="0"/>
              <a:t> </a:t>
            </a:r>
            <a:r>
              <a:rPr lang="fr-FR" dirty="0"/>
              <a:t>(</a:t>
            </a:r>
            <a:r>
              <a:rPr lang="fr-FR" dirty="0" err="1"/>
              <a:t>FastAPI</a:t>
            </a:r>
            <a:r>
              <a:rPr lang="fr-FR" dirty="0"/>
              <a:t>, REST, </a:t>
            </a:r>
            <a:r>
              <a:rPr lang="fr-FR" dirty="0" err="1"/>
              <a:t>OpenAPI</a:t>
            </a:r>
            <a:r>
              <a:rPr lang="fr-FR" dirty="0"/>
              <a:t>/</a:t>
            </a:r>
            <a:r>
              <a:rPr lang="fr-FR" dirty="0" err="1"/>
              <a:t>Swagger</a:t>
            </a:r>
            <a:r>
              <a:rPr lang="fr-FR" dirty="0"/>
              <a:t> intégré</a:t>
            </a:r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➢"/>
            </a:pPr>
            <a:r>
              <a:rPr lang="fr" b="1" dirty="0"/>
              <a:t>S</a:t>
            </a:r>
            <a:r>
              <a:rPr lang="fr-FR" b="1" dirty="0" err="1"/>
              <a:t>écurisée</a:t>
            </a:r>
            <a:r>
              <a:rPr lang="fr-FR" b="1" dirty="0"/>
              <a:t> </a:t>
            </a:r>
            <a:r>
              <a:rPr lang="fr-FR" dirty="0"/>
              <a:t>(Authentification JWT et cloisonnement par rôles</a:t>
            </a:r>
            <a:r>
              <a:rPr lang="fr" dirty="0"/>
              <a:t>)</a:t>
            </a:r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➢"/>
            </a:pPr>
            <a:r>
              <a:rPr lang="fr" b="1" dirty="0"/>
              <a:t>P</a:t>
            </a:r>
            <a:r>
              <a:rPr lang="fr-FR" b="1" dirty="0" err="1"/>
              <a:t>erformante</a:t>
            </a:r>
            <a:r>
              <a:rPr lang="fr-FR" b="1" dirty="0"/>
              <a:t> </a:t>
            </a:r>
            <a:r>
              <a:rPr lang="fr-FR" dirty="0"/>
              <a:t>(Agrégations SQL directes et pagination côté </a:t>
            </a:r>
            <a:r>
              <a:rPr lang="fr-FR" dirty="0" err="1"/>
              <a:t>serveu</a:t>
            </a:r>
            <a:r>
              <a:rPr lang="fr" dirty="0"/>
              <a:t>r)</a:t>
            </a:r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➢"/>
            </a:pPr>
            <a:r>
              <a:rPr lang="fr" b="1" dirty="0"/>
              <a:t>Testable</a:t>
            </a:r>
            <a:r>
              <a:rPr lang="fr" dirty="0"/>
              <a:t> </a:t>
            </a: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14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sz="1400" dirty="0"/>
          </a:p>
        </p:txBody>
      </p:sp>
      <p:sp>
        <p:nvSpPr>
          <p:cNvPr id="282" name="Google Shape;282;p39"/>
          <p:cNvSpPr txBox="1">
            <a:spLocks noGrp="1"/>
          </p:cNvSpPr>
          <p:nvPr>
            <p:ph type="title"/>
          </p:nvPr>
        </p:nvSpPr>
        <p:spPr>
          <a:xfrm>
            <a:off x="604725" y="3972575"/>
            <a:ext cx="86784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>
                <a:solidFill>
                  <a:schemeClr val="lt2"/>
                </a:solidFill>
              </a:rPr>
              <a:t>Merci pour votre attention ! </a:t>
            </a:r>
            <a:endParaRPr dirty="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837</Words>
  <Application>Microsoft Office PowerPoint</Application>
  <PresentationFormat>Affichage à l'écran (16:9)</PresentationFormat>
  <Paragraphs>131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7" baseType="lpstr">
      <vt:lpstr>Open Sans</vt:lpstr>
      <vt:lpstr>Arial</vt:lpstr>
      <vt:lpstr>Economica</vt:lpstr>
      <vt:lpstr>Plus Jakarta Sans</vt:lpstr>
      <vt:lpstr>Luxe</vt:lpstr>
      <vt:lpstr>VéloVille Hauts-de-France — Valorisation et Fiabilisation des Données</vt:lpstr>
      <vt:lpstr>Plan</vt:lpstr>
      <vt:lpstr>Contexte Vélo-Ville</vt:lpstr>
      <vt:lpstr>Audit données &amp; Ingestion ETL</vt:lpstr>
      <vt:lpstr>Architecture Technique &amp; Modèle MLD</vt:lpstr>
      <vt:lpstr>Sécurité, Authentification &amp; Matrice des droits </vt:lpstr>
      <vt:lpstr>API REST &amp; Restitution Front-End </vt:lpstr>
      <vt:lpstr>Tests &amp; couverture </vt:lpstr>
      <vt:lpstr>Démarche Recettes &amp; Gestion des anomalies </vt:lpstr>
      <vt:lpstr>Choix Ecoresponsables &amp; Versionning </vt:lpstr>
      <vt:lpstr>Bilan &amp; Perspectives 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Administrateur</dc:creator>
  <cp:lastModifiedBy>Kheira BEKARA</cp:lastModifiedBy>
  <cp:revision>9</cp:revision>
  <cp:lastPrinted>2026-10-15T14:28:16Z</cp:lastPrinted>
  <dcterms:modified xsi:type="dcterms:W3CDTF">2026-10-15T14:50:27Z</dcterms:modified>
</cp:coreProperties>
</file>